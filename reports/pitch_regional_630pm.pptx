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" cy="274320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</a:defRPr>
            </a:pPr>
            <a:r>
              <a:t>North vs South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2DD4BF"/>
                </a:solidFill>
              </a:defRPr>
            </a:pPr>
            <a:r>
              <a:t>Regional patterns in Zomato delivery — what survives geography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ACC15"/>
                </a:solidFill>
              </a:defRPr>
            </a:pPr>
            <a:r>
              <a:t>Final pitch  ·  18:30 IST  ·  DataVerse 2026  ·  BMSCE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91840"/>
            <a:ext cx="10058400" cy="7772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37560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D4BF"/>
                </a:solidFill>
              </a:defRPr>
            </a:pPr>
            <a:r>
              <a:t>Team Hmmmmmmmmmm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FFFFF"/>
                </a:solidFill>
              </a:defRPr>
            </a:pPr>
            <a:r>
              <a:t>Suchit SM   ·   Rayyan Shaikh   ·   Ranadeep 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97680"/>
            <a:ext cx="329184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GEO 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663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FFFFF"/>
                </a:solidFill>
              </a:defRPr>
            </a:pPr>
            <a: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349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Labels are clean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297680"/>
            <a:ext cx="329184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BEHAVIOUR AUC (leak-free)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663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FFFFF"/>
                </a:solidFill>
              </a:defRPr>
            </a:pPr>
            <a:r>
              <a:t>0.508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Essentially a coin flip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4297680"/>
            <a:ext cx="329184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87171"/>
                </a:solidFill>
              </a:defRPr>
            </a:pPr>
            <a:r>
              <a:t>AUC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6634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FFFFF"/>
                </a:solidFill>
              </a:defRPr>
            </a:pPr>
            <a:r>
              <a:t>0.492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ALL of it is geographic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1264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94A3B8"/>
                </a:solidFill>
              </a:defRPr>
            </a:pPr>
            <a:r>
              <a:t>github.com/TheClazer/Zomato-delivery-estimation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Predict whether a Zomato order is North or South Indian — and surface the patterns that distinguish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2DD4BF"/>
                </a:solidFill>
              </a:defRPr>
            </a:pPr>
            <a:r>
              <a:t>16,397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SOUTH ORDERS  ·  KL + TN + AP + TG + KA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94A3B8"/>
                </a:solidFill>
              </a:defRPr>
            </a:pPr>
            <a:r>
              <a:t>25,547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NORTH ORDERS  ·  rest of India (incl. Goa)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39.1% / 60.9%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CLASS BALANCE  ·  South / North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246120"/>
            <a:ext cx="11247120" cy="91440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DEFINITION (per brief)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1187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South = Kerala, Tamil Nadu, Andhra Pradesh, Telangana, Karnataka. North = every other state, including Maharashtra, Gujarat, Goa, West Bengal, MP, Punjab, etc.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97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Metrics: ROC-AUC (primary), F1, balanced accuracy — accuracy alone is misleading at the 61% no-skill floor.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5-fold StratifiedKFold, seed 42 (matches the ETA work for honest cross-comparison).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LightGBM binary classifier with class_weight='balanced' to correct the mild imbalance.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Two-model design: GEO (coords only) vs BEHAVIOUR (everything but coords). The gap is the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Labels for 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The regional ground truth was hiding in plain sight.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11247120" cy="91440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447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THE UNLOCK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Every Delivery_person_ID follows the pattern {CITY}RES##DEL##. A 1-line regex pulls 22 unique city codes — and 22 maps cleanly to North/South via state.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68880"/>
            <a:ext cx="11247120" cy="365760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22 cities, mapped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SOUTH (6 cities)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NORTH (16 cities — sample)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HYD      Hyderabad     Telangana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387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KOC      Kochi         Kerala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133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CHEN     Chennai       Tamil Nadu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239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BANG     Bangalore     Karnataka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16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MYS      Mysore        Karnataka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09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COIMB    Coimbatore    Tamil Nadu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GOA      Goa           Goa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5387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MUM      Mumbai        Maharashtra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3133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BHP      Bhopal        Madhya Pradesh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239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SUR      Surat         Gujarat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416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INDO     Indore        Madhya Pradesh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709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DEH      Dehradun      Uttarakhand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0017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AGR      Agra          Uttar Pradesh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2943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LUDH     Ludhiana      Punjab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Sanity check  —  every code is geographically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We don't just trust the prefix. We compare each code's median lat/lon to the expected city centroid.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3291840" cy="1280160"/>
          </a:xfrm>
          <a:prstGeom prst="rect">
            <a:avLst/>
          </a:prstGeom>
          <a:solidFill>
            <a:srgbClr val="12304A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3291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4ADE80"/>
                </a:solidFill>
              </a:defRPr>
            </a:pPr>
            <a:r>
              <a:t>22/22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49424"/>
            <a:ext cx="3291840" cy="409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CITIES WITHIN 250 km OF CENTROID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1417320"/>
            <a:ext cx="3291840" cy="12801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1508760"/>
            <a:ext cx="3291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44.9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249424"/>
            <a:ext cx="3291840" cy="409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WORST OFFENDER (GOA — Goa)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417320"/>
            <a:ext cx="4389120" cy="128016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1508760"/>
            <a:ext cx="43891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ALL 22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249424"/>
            <a:ext cx="4389120" cy="409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no relabels needed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26080"/>
            <a:ext cx="11247120" cy="3291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017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Top 8 km-off (sanity sample — all below 250 km threshold)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n_orders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med_lat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med_lon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km_off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GOA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Goa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Goa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North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703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609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15.517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73.767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703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44.9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9959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HYD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39959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Hyderabad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9959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Telangana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995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DD4BF"/>
                </a:solidFill>
              </a:defRPr>
            </a:pPr>
            <a:r>
              <a:t>South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39959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3,179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3995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17.431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3995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78.4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9959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10.6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KOC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Kochi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42885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Kerala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42885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DD4BF"/>
                </a:solidFill>
              </a:defRPr>
            </a:pPr>
            <a:r>
              <a:t>South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0" y="42885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42885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9.986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2885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76.297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42885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6.9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5811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MUM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5811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Mumbai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43200" y="45811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Maharashtra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45811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North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1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3,173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5811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19.122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45811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72.835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45811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6.7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873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CHEN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4873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Chennai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0" y="4873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Tamil Nadu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80" y="4873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DD4BF"/>
                </a:solidFill>
              </a:defRPr>
            </a:pPr>
            <a:r>
              <a:t>South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52160" y="48737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3,144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4873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13.03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4873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80.242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0" y="48737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6.3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5166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BANG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3040" y="5166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Bangalore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432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Karnataka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54880" y="5166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2DD4BF"/>
                </a:solidFill>
              </a:defRPr>
            </a:pPr>
            <a:r>
              <a:t>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60" y="51663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3,193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32320" y="5166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12.97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5166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77.64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166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5.5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4589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BHP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3040" y="54589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Bhopal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0" y="54589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Madhya Pradesh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54880" y="54589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North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60" y="54589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478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32320" y="54589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23.232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54589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77.43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01200" y="54589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4.3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515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SUR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63040" y="57515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Surat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0" y="5751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Gujarat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54880" y="57515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4A3B8"/>
                </a:solidFill>
              </a:defRPr>
            </a:pPr>
            <a:r>
              <a:t>North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57515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3,187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0" y="57515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21.171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57515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</a:defRPr>
            </a:pPr>
            <a:r>
              <a:t>72.789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01200" y="57515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ADE80"/>
                </a:solidFill>
              </a:defRPr>
            </a:pPr>
            <a:r>
              <a:t>4.2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Model A  —  GEO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Pure coordinate features. Confirms labels are clean, sets the upper bound.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D4BF"/>
                </a:solidFill>
              </a:defRPr>
            </a:pPr>
            <a:r>
              <a:t>1.0000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886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MEAN ROC-AUC (5-fold)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508760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D4BF"/>
                </a:solidFill>
              </a:defRPr>
            </a:pPr>
            <a: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0886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MEAN 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17320"/>
            <a:ext cx="3657600" cy="137160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508760"/>
            <a:ext cx="3657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D4BF"/>
                </a:solidFill>
              </a:defRPr>
            </a:pPr>
            <a: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0886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BAL ACC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1752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Features used: Restaurant lat/lon, Delivery lat/lon, haversine distance — 5 in total.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Per-fold AUC: 1.0000, 1.0000, 1.0000, 1.0000, 1.0000 — variance is effectively zero.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Verdict: the label vector is consistent with coordinates. No mislabelled rows survived the city-code mapping.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</a:rPr>
              <a:t>●  </a:t>
            </a:r>
            <a:r>
              <a:rPr sz="1400">
                <a:solidFill>
                  <a:srgbClr val="FFFFFF"/>
                </a:solidFill>
              </a:rPr>
              <a:t>We use this only as a CALIBRATION model — judges should not be impressed by a coordinate ↔ region classifier.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Model B  —  Behaviour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No coordinates. Just delivery, weather, rider and time features.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6 / 10</a:t>
            </a:r>
          </a:p>
        </p:txBody>
      </p:sp>
      <p:pic>
        <p:nvPicPr>
          <p:cNvPr id="10" name="Picture 9" descr="fig_reg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035040" cy="65740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9893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SHAP bar — Model B feature importance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417320"/>
            <a:ext cx="512064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508760"/>
            <a:ext cx="512064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FACC15"/>
                </a:solidFill>
              </a:defRPr>
            </a:pPr>
            <a:r>
              <a:t>0.588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89988"/>
            <a:ext cx="5120640" cy="380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MEAN ROC-AUC (5-fold)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743200"/>
            <a:ext cx="512064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834640"/>
            <a:ext cx="512064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87171"/>
                </a:solidFill>
              </a:defRPr>
            </a:pPr>
            <a:r>
              <a:t>0.412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15868"/>
            <a:ext cx="5120640" cy="380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GAP vs GEO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0.59 looks 'modestly informative' — but ONE feature dominates: month (SHAP 0.45).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All other features carry minimal SHAP weight; the next strongest (Age) is 10× smaller.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If month carries the signal, it's worth asking WHY a month feature should know your region.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The temporal leak  —  diagnosed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Same date range (Feb 11 – Apr 6, 2022). But the *within-region* month proportions differ.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11247120" cy="182880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MONTH %  ·  NORTH vs SOUTH (orders within each region)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365760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</a:defRPr>
            </a:pPr>
            <a:r>
              <a:t>February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</a:defRPr>
            </a:pPr>
            <a:r>
              <a:t>March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</a:defRPr>
            </a:pPr>
            <a:r>
              <a:t>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4A3B8"/>
                </a:solidFill>
              </a:defRPr>
            </a:pPr>
            <a:r>
              <a:t>NORTH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20.8%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66.0%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13.2%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D4BF"/>
                </a:solidFill>
              </a:defRPr>
            </a:pPr>
            <a:r>
              <a:t>SOUTH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87171"/>
                </a:solidFill>
              </a:defRPr>
            </a:pPr>
            <a:r>
              <a:t>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79.9%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15.8%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20440"/>
            <a:ext cx="11247120" cy="128016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5935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87171"/>
                </a:solidFill>
              </a:defRPr>
            </a:pPr>
            <a:r>
              <a:t>WHAT THIS MEANS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09728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Feb is 4.8× more represented in North orders than South. That asymmetry is a data-collection artifact (when each city's collection window opened), NOT seasonality. month is therefore a label proxy, not a behavioural signal — and must be dropped from any honest classifier.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83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94A3B8"/>
                </a:solidFill>
              </a:defRPr>
            </a:pPr>
            <a:r>
              <a:t>Diagnostic confirmed via direct date-range inspection (same Feb 11 – Apr 6 2022 for both regions, but skewed within-region density).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Model B′  —  the honest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Same architecture, month and day_of_week dropped. The data-literacy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FACC15"/>
                </a:solidFill>
              </a:defRPr>
            </a:pPr>
            <a:r>
              <a:t>0.5076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LEAK-FREE 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D4BF"/>
                </a:solidFill>
              </a:defRPr>
            </a:pPr>
            <a:r>
              <a:t>0.433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508760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D4BF"/>
                </a:solidFill>
              </a:defRPr>
            </a:pPr>
            <a:r>
              <a:t>0.506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68296"/>
            <a:ext cx="3657600" cy="46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BAL ACC</a:t>
            </a:r>
          </a:p>
        </p:txBody>
      </p:sp>
      <p:pic>
        <p:nvPicPr>
          <p:cNvPr id="19" name="Picture 18" descr="fig_reg_au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6858000" cy="408273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5943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Geo (grey) vs Behaviour (teal) per fold — geo perfect, behaviour near random.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3017520"/>
            <a:ext cx="4206240" cy="301752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3108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87171"/>
                </a:solidFill>
              </a:defRPr>
            </a:pPr>
            <a:r>
              <a:t>THE PUNCHLINE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429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</a:defRPr>
            </a:pPr>
            <a:r>
              <a:t>0.508 ≈ random.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069080"/>
            <a:ext cx="4023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87171"/>
                </a:solidFill>
              </a:rPr>
              <a:t>●  </a:t>
            </a:r>
            <a:r>
              <a:rPr sz="1100">
                <a:solidFill>
                  <a:srgbClr val="FFFFFF"/>
                </a:solidFill>
              </a:rPr>
              <a:t>Per-fold AUC: 0.514, 0.515, 0.500, 0.500, 0.508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7171"/>
                </a:solidFill>
              </a:rPr>
              <a:t>●  </a:t>
            </a:r>
            <a:r>
              <a:rPr sz="1100">
                <a:solidFill>
                  <a:srgbClr val="FFFFFF"/>
                </a:solidFill>
              </a:rPr>
              <a:t>Fold 3 and 4 are literally 0.500 — the model is guessing.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7171"/>
                </a:solidFill>
              </a:rPr>
              <a:t>●  </a:t>
            </a:r>
            <a:r>
              <a:rPr sz="1100">
                <a:solidFill>
                  <a:srgbClr val="FFFFFF"/>
                </a:solidFill>
              </a:rPr>
              <a:t>Same model on same split — only difference is removing 2 leaky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Deep dive  —  the hidden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Six stress tests on the 'no behavioural signal' claim. One survives.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SIX STRESS TESTS  (GroupKFold-by-city ROC-AUC)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feature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verdict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103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Behaviour-only (leak-free)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03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0.508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random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48716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+ traffic × hour interaction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4871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0.508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4871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no 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87121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+ weather × traffic interaction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871215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0.502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28712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no lift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552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+ vehicle × multi-delivery interaction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255263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0.504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25526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no 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63931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+ rating × traffic interaction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639311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0.501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363931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no lift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023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+ distance_km  (haversine, derived)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0233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ACC15"/>
                </a:solidFill>
              </a:defRPr>
            </a:pPr>
            <a:r>
              <a:t>0.911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4023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FACC15"/>
                </a:solidFill>
              </a:defRPr>
            </a:pPr>
            <a:r>
              <a:t>BIG LIFT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1325880"/>
            <a:ext cx="489204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1399032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THE PATTERN  —  distance_km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691640"/>
            <a:ext cx="4617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All five hand-engineered interactions add ZERO under GroupKFold. The one feature that does add signal is the haversine distance itself.</a:t>
            </a:r>
            <a:br/>
            <a:br/>
            <a:r>
              <a:t>KS test on distance distributions: D = 0.088, p = 6.7×10⁻⁶⁷ — distributions differ in SHAPE even though the medians (9.2 vs 9.0 km) and IQRs are essentially equal.</a:t>
            </a:r>
            <a:br/>
            <a:br/>
            <a:r>
              <a:t>Translation: South cities have a structurally different delivery-distance fingerprint from North cities. Not because behaviour differs — but because the urban geometry of restaurants and customers is different.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Final finding  —  three layers of regional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Behaviour is uniform. Structure differs. Geography is decisive.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10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379476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94A3B8"/>
                </a:solidFill>
              </a:defRPr>
            </a:pPr>
            <a:r>
              <a:t>LAYER 1  ·  BEHAVIOUR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</a:defRPr>
            </a:pPr>
            <a:r>
              <a:t>AUC ≈ 0.51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Zomato deliveries are operationally IDENTICAL North vs South. 11 univariate tests all p &gt; 0.05; six stress tests including CatBoost, interactions, GroupKFold confirm random-level AUC. Riders, customers, traffic, weather, festivals — all behave the same.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379476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ACC15"/>
                </a:solidFill>
              </a:defRPr>
            </a:pPr>
            <a:r>
              <a:t>LAYER 2  · 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916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</a:defRPr>
            </a:pPr>
            <a:r>
              <a:t>AUC ≈ 0.91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286000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Haversine delivery-distance distributions DIFFER between South and North cities (KS D=0.088, p≪10⁻⁶⁰), even with medians equal. This is geometric — South cities have different restaurant-customer layouts. Survives leave-cities-out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280160"/>
            <a:ext cx="36576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371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LAYER 3  ·  GEOGRAPHY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1691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</a:defRPr>
            </a:pPr>
            <a:r>
              <a:t>AUC = 1.000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28600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</a:defRPr>
            </a:pPr>
            <a:r>
              <a:t>Raw lat/lon trivially separates regions — labels are perfectly clean. This is by construction and not a finding, but proves the label vector is correct so judges can trust the other two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54864" cy="67848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Thank you  —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2DD4BF"/>
                </a:solidFill>
              </a:defRPr>
            </a:pPr>
            <a:r>
              <a:t>Repo, headline numbers, expected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93408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94A3B8"/>
                </a:solidFill>
              </a:defRPr>
            </a:pPr>
            <a:r>
              <a:t>Team Hmmmmmmmmmm  ·  Regional Classification  ·  18:30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934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94A3B8"/>
                </a:solidFill>
              </a:defRPr>
            </a:pPr>
            <a:r>
              <a:t>10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188720"/>
            <a:ext cx="11247120" cy="96012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</a:defRPr>
            </a:pPr>
            <a:r>
              <a:t>github.com/TheClazer/Zomato-delivery-estimation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365760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423160"/>
            <a:ext cx="365760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85515"/>
            <a:ext cx="3657600" cy="321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GEO BASELINE (coords)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331720"/>
            <a:ext cx="365760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2423160"/>
            <a:ext cx="365760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</a:defRPr>
            </a:pPr>
            <a:r>
              <a:t>0.508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985515"/>
            <a:ext cx="3657600" cy="321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BEHAVIOUR-ONLY (leak-free)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331720"/>
            <a:ext cx="365760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423160"/>
            <a:ext cx="365760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0.911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985515"/>
            <a:ext cx="3657600" cy="321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STRUCTURAL (with distance)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20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DD4BF"/>
                </a:solidFill>
              </a:defRPr>
            </a:pPr>
            <a:r>
              <a:t>Expected questions: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862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ACC15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Why did you trust the city codes? — Coord cross-check; all 22 cities within 45 km of expected centroid.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ACC15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Why drop month? — Feb is 4.3% of South orders but 20.8% of North. Data-collection artifact, not seasonality.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ACC15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Is distance_km really 'structural', not just geo? — It's an order-level scalar (pickup→drop). KS test shows distribution shape differs; SHAP shows it dominates.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ACC15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Why does GroupKFold fold-4 drop to 0.64? — That held both KOC (Kerala) and HYD (Telangana). South India is internally heterogeneous; 5-way state classifier inside South hits 38% vs 25% random.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ACC15"/>
                </a:solidFill>
              </a:rPr>
              <a:t>●  </a:t>
            </a:r>
            <a:r>
              <a:rPr sz="1200">
                <a:solidFill>
                  <a:srgbClr val="FFFFFF"/>
                </a:solidFill>
              </a:rPr>
              <a:t>Could there be patterns we missed? — Possibly, but with 6 stress tests (interactions, CatBoost cross-check, KS shape, dispersion, GroupKFold, South-internal) all aligned, this finding is well-defended.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