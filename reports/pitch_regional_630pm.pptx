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" cy="27432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</a:defRPr>
            </a:pPr>
            <a:r>
              <a:t>North vs South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2DD4BF"/>
                </a:solidFill>
              </a:defRPr>
            </a:pPr>
            <a:r>
              <a:t>Regional patterns in Zomato delivery — what survives geography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ACC15"/>
                </a:solidFill>
              </a:defRPr>
            </a:pPr>
            <a:r>
              <a:t>Final pitch  ·  18:30 IST  ·  DataVerse 2026  ·  BMSCE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91840"/>
            <a:ext cx="10058400" cy="77724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DD4BF"/>
                </a:solidFill>
              </a:defRPr>
            </a:pPr>
            <a:r>
              <a:t>Team Hmmmmmmmmmm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5760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Suchit SM   ·   Rayyan Shaikh   ·   Ranadeep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97680"/>
            <a:ext cx="329184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D4BF"/>
                </a:solidFill>
              </a:defRPr>
            </a:pPr>
            <a:r>
              <a:t>GEO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349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Labels are clean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4297680"/>
            <a:ext cx="329184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BEHAVIOUR AUC (leak-free)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0.508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49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Essentially a coin flip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4297680"/>
            <a:ext cx="329184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87171"/>
                </a:solidFill>
              </a:defRPr>
            </a:pPr>
            <a:r>
              <a:t>AUC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663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0.492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349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ALL of it is geographic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94A3B8"/>
                </a:solidFill>
              </a:defRPr>
            </a:pPr>
            <a:r>
              <a:t>github.com/TheClazer/Zomato-delivery-estimation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Predict whether a Zomato order is North or South Indian — and surface the patterns that distinguish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2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5760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DD4BF"/>
                </a:solidFill>
              </a:defRPr>
            </a:pPr>
            <a:r>
              <a:t>16,397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68296"/>
            <a:ext cx="3657600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SOUTH ORDERS  ·  KL + TN + AP + TG + 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50876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</a:defRPr>
            </a:pPr>
            <a:r>
              <a:t>25,547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68296"/>
            <a:ext cx="3657600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NORTH ORDERS  ·  rest of India (incl. Goa)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365760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50876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ACC15"/>
                </a:solidFill>
              </a:defRPr>
            </a:pPr>
            <a:r>
              <a:t>39.1% / 60.9%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368296"/>
            <a:ext cx="3657600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CLASS BALANCE  ·  South / North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11247120" cy="914400"/>
          </a:xfrm>
          <a:prstGeom prst="rect">
            <a:avLst/>
          </a:prstGeom>
          <a:solidFill>
            <a:srgbClr val="12304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192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D4BF"/>
                </a:solidFill>
              </a:defRPr>
            </a:pPr>
            <a:r>
              <a:t>DEFINITION (per brief)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118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South = Kerala, Tamil Nadu, Andhra Pradesh, Telangana, Karnataka. North = every other state, including Maharashtra, Gujarat, Goa, West Bengal, MP, Punjab, etc.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Metrics: ROC-AUC (primary), F1, balanced accuracy — accuracy alone is misleading at the 61% no-skill floor.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5-fold StratifiedKFold, seed 42 (matches the ETA work for honest cross-comparison).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LightGBM binary classifier with class_weight='balanced' to correct the mild imbalance.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Two-model design: GEO (coords only) vs BEHAVIOUR (everything but coords). The gap is the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Labels for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The regional ground truth was hiding in plain sight.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1247120" cy="91440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447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THE UNLOCK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Every Delivery_person_ID follows the pattern {CITY}RES##DEL##. A 1-line regex pulls 22 unique city codes — and 22 maps cleanly to North/South via state.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8880"/>
            <a:ext cx="11247120" cy="365760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D4BF"/>
                </a:solidFill>
              </a:defRPr>
            </a:pPr>
            <a:r>
              <a:t>22 cities, mapped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D4BF"/>
                </a:solidFill>
              </a:defRPr>
            </a:pPr>
            <a:r>
              <a:t>SOUTH (6 cities)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</a:defRPr>
            </a:pPr>
            <a:r>
              <a:t>NORTH (16 cities — sample)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HYD      Hyderabad     Telangana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KOC      Kochi         Kerala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13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CHEN     Chennai       Tamil Nadu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239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BANG     Bangalore     Karnataka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165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MYS      Mysore        Karnataka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COIMB    Coimbatore    Tamil Nadu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GOA      Goa           Goa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38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MUM      Mumbai        Maharashtra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8313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BHP      Bhopal        Madhya Pradesh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1239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SUR      Surat         Gujarat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4165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INDO     Indore        Madhya Pradesh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709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DEH      Dehradun      Uttarakhand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001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AGR      Agra          Uttar Pradesh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294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LUDH     Ludhiana      Punjab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Sanity check  —  every code is geographically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We don't just trust the prefix. We compare each code's median lat/lon to the expected city centroid.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291840" cy="1280160"/>
          </a:xfrm>
          <a:prstGeom prst="rect">
            <a:avLst/>
          </a:prstGeom>
          <a:solidFill>
            <a:srgbClr val="12304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3291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ADE80"/>
                </a:solidFill>
              </a:defRPr>
            </a:pPr>
            <a:r>
              <a:t>22/22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9424"/>
            <a:ext cx="329184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CITIES WITHIN 250 km OF CENTROID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417320"/>
            <a:ext cx="3291840" cy="128016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508760"/>
            <a:ext cx="3291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ACC15"/>
                </a:solidFill>
              </a:defRPr>
            </a:pPr>
            <a:r>
              <a:t>44.9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49424"/>
            <a:ext cx="329184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WORST OFFENDER (GOA — Goa)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417320"/>
            <a:ext cx="4389120" cy="128016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508760"/>
            <a:ext cx="4389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2DD4BF"/>
                </a:solidFill>
              </a:defRPr>
            </a:pPr>
            <a:r>
              <a:t>ALL 22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249424"/>
            <a:ext cx="43891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no relabels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26080"/>
            <a:ext cx="11247120" cy="329184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D4BF"/>
                </a:solidFill>
              </a:defRPr>
            </a:pPr>
            <a:r>
              <a:t>Top 8 km-off (sanity sample — all below 250 km threshold)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n_orders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med_lat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med_lon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km_off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GOA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Goa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Goa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North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703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609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15.517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73.767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DE80"/>
                </a:solidFill>
              </a:defRPr>
            </a:pPr>
            <a:r>
              <a:t>44.9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995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HYD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995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Hyderabad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995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Telangana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995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D4BF"/>
                </a:solidFill>
              </a:defRPr>
            </a:pPr>
            <a:r>
              <a:t>South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995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3,179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995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17.431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995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78.4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995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DE80"/>
                </a:solidFill>
              </a:defRPr>
            </a:pPr>
            <a:r>
              <a:t>10.6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KOC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Kochi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4288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Kerala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4288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D4BF"/>
                </a:solidFill>
              </a:defRPr>
            </a:pPr>
            <a:r>
              <a:t>South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2885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701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288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9.986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288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76.297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2885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DE80"/>
                </a:solidFill>
              </a:defRPr>
            </a:pPr>
            <a:r>
              <a:t>6.9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581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MUM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4581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Mumbai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4581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Maharashtra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45811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North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60" y="45811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3,173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45811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19.122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45811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72.835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45811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DE80"/>
                </a:solidFill>
              </a:defRPr>
            </a:pPr>
            <a:r>
              <a:t>6.7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4873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CHEN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4873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Chennai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0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Tamil Nadu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80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D4BF"/>
                </a:solidFill>
              </a:defRPr>
            </a:pPr>
            <a:r>
              <a:t>South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52160" y="48737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3,144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13.03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80.242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4873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DE80"/>
                </a:solidFill>
              </a:defRPr>
            </a:pPr>
            <a:r>
              <a:t>6.3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BANG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6304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Bangalore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Karnataka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D4BF"/>
                </a:solidFill>
              </a:defRPr>
            </a:pPr>
            <a:r>
              <a:t>South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0" y="5166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3,193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2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12.97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77.64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DE80"/>
                </a:solidFill>
              </a:defRPr>
            </a:pPr>
            <a:r>
              <a:t>5.5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BHP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6304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Bhopal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0" y="5458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Madhya Pradesh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4880" y="5458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North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52160" y="54589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478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2320" y="5458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23.232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5458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77.43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1200" y="5458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DE80"/>
                </a:solidFill>
              </a:defRPr>
            </a:pPr>
            <a:r>
              <a:t>4.3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515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SUR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63040" y="57515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Surat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0" y="5751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Gujarat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54880" y="5751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North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52160" y="57515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3,187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2320" y="5751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21.171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0" y="5751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72.789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01200" y="57515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DE80"/>
                </a:solidFill>
              </a:defRPr>
            </a:pPr>
            <a:r>
              <a:t>4.2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Model A  —  GEO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Pure coordinate features. Confirms labels are clean, sets the upper bound.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57600" cy="137160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3657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DD4BF"/>
                </a:solidFill>
              </a:defRPr>
            </a:pPr>
            <a:r>
              <a:t>1.0000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88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MEAN ROC-AUC (5-fold)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137160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508760"/>
            <a:ext cx="3657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DD4BF"/>
                </a:solidFill>
              </a:defRPr>
            </a:pPr>
            <a: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088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MEAN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3657600" cy="137160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508760"/>
            <a:ext cx="3657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DD4BF"/>
                </a:solidFill>
              </a:defRPr>
            </a:pPr>
            <a:r>
              <a:t>1.000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3088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BAL ACC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175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Features used: Restaurant lat/lon, Delivery lat/lon, haversine distance — 5 in total.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Per-fold AUC: 1.0000, 1.0000, 1.0000, 1.0000, 1.0000 — variance is effectively zero.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Verdict: the label vector is consistent with coordinates. No mislabelled rows survived the city-code mapping.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We use this only as a CALIBRATION model — judges should not be impressed by a coordinate ↔ region classifier.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Model B  —  Behaviour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No coordinates. Just delivery, weather, rider and time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6 / 10</a:t>
            </a:r>
          </a:p>
        </p:txBody>
      </p:sp>
      <p:pic>
        <p:nvPicPr>
          <p:cNvPr id="10" name="Picture 9" descr="fig_reg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035040" cy="65740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9893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</a:defRPr>
            </a:pPr>
            <a:r>
              <a:t>SHAP bar — Model B feature importance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417320"/>
            <a:ext cx="5120640" cy="118872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08760"/>
            <a:ext cx="512064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ACC15"/>
                </a:solidFill>
              </a:defRPr>
            </a:pPr>
            <a:r>
              <a:t>0.588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89988"/>
            <a:ext cx="5120640" cy="380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MEAN ROC-AUC (5-fold)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743200"/>
            <a:ext cx="5120640" cy="1188720"/>
          </a:xfrm>
          <a:prstGeom prst="rect">
            <a:avLst/>
          </a:prstGeom>
          <a:solidFill>
            <a:srgbClr val="12304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512064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87171"/>
                </a:solidFill>
              </a:defRPr>
            </a:pPr>
            <a:r>
              <a:t>0.412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15868"/>
            <a:ext cx="5120640" cy="380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GAP vs GEO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</a:rPr>
              <a:t>●  </a:t>
            </a:r>
            <a:r>
              <a:rPr sz="1200">
                <a:solidFill>
                  <a:srgbClr val="FFFFFF"/>
                </a:solidFill>
              </a:rPr>
              <a:t>0.59 looks 'modestly informative' — but ONE feature dominates: month (SHAP 0.45).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</a:rPr>
              <a:t>●  </a:t>
            </a:r>
            <a:r>
              <a:rPr sz="1200">
                <a:solidFill>
                  <a:srgbClr val="FFFFFF"/>
                </a:solidFill>
              </a:rPr>
              <a:t>All other features carry minimal SHAP weight; the next strongest (Age) is 10× smaller.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</a:rPr>
              <a:t>●  </a:t>
            </a:r>
            <a:r>
              <a:rPr sz="1200">
                <a:solidFill>
                  <a:srgbClr val="FFFFFF"/>
                </a:solidFill>
              </a:rPr>
              <a:t>If month carries the signal, it's worth asking WHY a month feature should know your region.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The temporal leak  —  diagnosed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Same date range (Feb 11 – Apr 6, 2022). But the *within-region* month proportions differ.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1247120" cy="182880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ACC15"/>
                </a:solidFill>
              </a:defRPr>
            </a:pPr>
            <a:r>
              <a:t>MONTH %  ·  NORTH vs SOUTH (orders within each region)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6576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February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March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April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4A3B8"/>
                </a:solidFill>
              </a:defRPr>
            </a:pPr>
            <a:r>
              <a:t>NORTH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20.8%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66.0%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13.2%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DD4BF"/>
                </a:solidFill>
              </a:defRPr>
            </a:pPr>
            <a:r>
              <a:t>SOUTH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</a:defRPr>
            </a:pPr>
            <a:r>
              <a:t>4.3%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79.9%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15.8%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520440"/>
            <a:ext cx="11247120" cy="1280160"/>
          </a:xfrm>
          <a:prstGeom prst="rect">
            <a:avLst/>
          </a:prstGeom>
          <a:solidFill>
            <a:srgbClr val="12304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93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87171"/>
                </a:solidFill>
              </a:defRPr>
            </a:pPr>
            <a:r>
              <a:t>WHAT THIS MEANS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109728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Feb is 4.8× more represented in North orders than South. That asymmetry is a data-collection artifact (when each city's collection window opened), NOT seasonality. month is therefore a label proxy, not a behavioural signal — and must be dropped from any honest classifier.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83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</a:defRPr>
            </a:pPr>
            <a:r>
              <a:t>Diagnostic confirmed via direct date-range inspection (same Feb 11 – Apr 6 2022 for both regions, but skewed within-region density).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Model B′  —  the honest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Same architecture, month and day_of_week dropped. The data-literacy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5760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ACC15"/>
                </a:solidFill>
              </a:defRPr>
            </a:pPr>
            <a:r>
              <a:t>0.5076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68296"/>
            <a:ext cx="3657600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LEAK-FREE 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50876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DD4BF"/>
                </a:solidFill>
              </a:defRPr>
            </a:pPr>
            <a:r>
              <a:t>0.433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68296"/>
            <a:ext cx="3657600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3657600" cy="1463040"/>
          </a:xfrm>
          <a:prstGeom prst="rect">
            <a:avLst/>
          </a:prstGeom>
          <a:solidFill>
            <a:srgbClr val="12304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508760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DD4BF"/>
                </a:solidFill>
              </a:defRPr>
            </a:pPr>
            <a:r>
              <a:t>0.506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368296"/>
            <a:ext cx="3657600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</a:defRPr>
            </a:pPr>
            <a:r>
              <a:t>BAL ACC</a:t>
            </a:r>
          </a:p>
        </p:txBody>
      </p:sp>
      <p:pic>
        <p:nvPicPr>
          <p:cNvPr id="19" name="Picture 18" descr="fig_reg_auc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0"/>
            <a:ext cx="6858000" cy="408273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5943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</a:defRPr>
            </a:pPr>
            <a:r>
              <a:t>Geo (grey) vs Behaviour (teal) per fold — geo perfect, behaviour near random.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017520"/>
            <a:ext cx="4206240" cy="3017520"/>
          </a:xfrm>
          <a:prstGeom prst="rect">
            <a:avLst/>
          </a:prstGeom>
          <a:solidFill>
            <a:srgbClr val="12304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3108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87171"/>
                </a:solidFill>
              </a:defRPr>
            </a:pPr>
            <a:r>
              <a:t>THE PUNCHLINE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429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0.508 ≈ random.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06908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87171"/>
                </a:solidFill>
              </a:rPr>
              <a:t>●  </a:t>
            </a:r>
            <a:r>
              <a:rPr sz="1100">
                <a:solidFill>
                  <a:srgbClr val="FFFFFF"/>
                </a:solidFill>
              </a:rPr>
              <a:t>Per-fold AUC: 0.514, 0.515, 0.500, 0.500, 0.508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7171"/>
                </a:solidFill>
              </a:rPr>
              <a:t>●  </a:t>
            </a:r>
            <a:r>
              <a:rPr sz="1100">
                <a:solidFill>
                  <a:srgbClr val="FFFFFF"/>
                </a:solidFill>
              </a:rPr>
              <a:t>Fold 3 and 4 are literally 0.500 — the model is guessing.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7171"/>
                </a:solidFill>
              </a:rPr>
              <a:t>●  </a:t>
            </a:r>
            <a:r>
              <a:rPr sz="1100">
                <a:solidFill>
                  <a:srgbClr val="FFFFFF"/>
                </a:solidFill>
              </a:rPr>
              <a:t>Same model on same split — only difference is removing 2 leaky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The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What this tells us about how Zomato operates across India.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1247120" cy="137160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447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ACC15"/>
                </a:solidFill>
              </a:defRPr>
            </a:pPr>
            <a:r>
              <a:t>HEADLINE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Once the data-collection sampling artifact is removed, North and South Zomato deliveries are operationally indistinguishable. The ONLY way to tell them apart is to look at where they happen — every other behavioural signal is regional-coincidence noise.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ACC1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Delivery time, traffic, weather, vehicle, order type, multi-delivery, rider age &amp; rating, festival incidence, time-of-day — 11 univariate tests run, ZERO showed a significant N/S split (all p &gt; 0.05).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ACC1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The behaviour-only model AUC = 0.508 — within Monte Carlo noise of a coin flip.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ACC1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This is a positive result: Zomato runs a remarkably uniform operation across the country. Riders behave the same way, customers order the same way, weather/traffic affects deliveries the same way.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ACC1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Geographic signal (coordinates → AUC 1.000) captures all of the N/S separability — and that's just 'where the city is', not 'how the city behaves'.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ACC1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Honest &gt; vanity (Rulebook §6): we report 'no behavioural difference' rather than over-claiming a 0.59 model that secretly leans on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Thank you  — 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DD4BF"/>
                </a:solidFill>
              </a:defRPr>
            </a:pPr>
            <a:r>
              <a:t>Repo, tag, headline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934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Team Hmmmmmmmmmm  ·  Regional Classification  ·  18:30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934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solidFill>
            <a:srgbClr val="12304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D4BF"/>
                </a:solidFill>
              </a:defRPr>
            </a:pPr>
            <a:r>
              <a:t>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github.com/TheClazer/Zomato-delivery-estimation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5029200" cy="118872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ACC15"/>
                </a:solidFill>
              </a:defRPr>
            </a:pPr>
            <a:r>
              <a:t>MODEL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models/region_classifier_v1.txt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029200" cy="1188720"/>
          </a:xfrm>
          <a:prstGeom prst="rect">
            <a:avLst/>
          </a:prstGeom>
          <a:solidFill>
            <a:srgbClr val="12304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ACC15"/>
                </a:solidFill>
              </a:defRPr>
            </a:pPr>
            <a:r>
              <a:t>GEO AUC  /  BEHAVIOUR 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1.000  /  0.508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D4BF"/>
                </a:solidFill>
              </a:defRPr>
            </a:pPr>
            <a:r>
              <a:t>Expected questions: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How did we know the city codes were correct? — coord cross-check, all 22 within 45 km of centroid.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Why did Model B get 0.59 if Model B' is 0.51? — Month was a sampling-window proxy for region.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Could there be regional patterns we just couldn't see? — Maybe, but this dataset doesn't carry that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