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9728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FFFFFF"/>
                </a:solidFill>
              </a:defRPr>
            </a:pPr>
            <a:r>
              <a:t>Zomato Delivery ETA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2DD4BF"/>
                </a:solidFill>
              </a:defRPr>
            </a:pPr>
            <a:r>
              <a:t>10-hour sprint  ·  LightGBM + CatBoost blend  ·  MAE 3.04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72000"/>
            <a:ext cx="109728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FFFFFF"/>
                </a:solidFill>
              </a:defRPr>
            </a:pPr>
            <a:r>
              <a:t>Team Hmmmmmmmmmm   ·   Suchit SM    Rayyan Shaikh    Ranadeep M</a:t>
            </a:r>
          </a:p>
          <a:p>
            <a:pPr>
              <a:spcAft>
                <a:spcPts val="400"/>
              </a:spcAft>
              <a:defRPr sz="1600">
                <a:solidFill>
                  <a:srgbClr val="FFFFFF"/>
                </a:solidFill>
              </a:defRPr>
            </a:pPr>
            <a:r>
              <a:t>github.com/TheClazer/Zomato-delivery-estimation</a:t>
            </a:r>
          </a:p>
          <a:p>
            <a:pPr>
              <a:spcAft>
                <a:spcPts val="400"/>
              </a:spcAft>
              <a:defRPr sz="1600">
                <a:solidFill>
                  <a:srgbClr val="FFFFFF"/>
                </a:solidFill>
              </a:defRPr>
            </a:pPr>
            <a:r>
              <a:t>Final commit: [HASH] — tag: final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Predict Time_taken (min) for each delivery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•  Tabular regression: order + rider + restaurant + conditions → minutes.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•  Metric: Mean Absolute Error (lower is better).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•  Naïve baseline (predict the mean): MAE ≈ 7.6 min  →  we land at 3.04.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•  raw CSV  →  clean (src/data.py)  →  features (src/features.py)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•  →  KFold(5, seed=42) CV  →  LightGBM Optuna tune (60 trials, 5-min cap)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•  →  + CatBoost run on same split  →  weighted blend  →  freeze final.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•  Reproducibility: every seed = 42, every train.parquet, model file, OOF saved.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What our EDA found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 Distance ρ = 0.33 — clean primary signal.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 Traffic dominates: ANOVA F=3390.2, Low→Jam adds many minutes; verified significant at p=0.00e+00.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 Bad weather adds ≈ 6.0 min vs Sunny; festival days ≈ +19.5 min.</a:t>
            </a:r>
          </a:p>
        </p:txBody>
      </p:sp>
      <p:pic>
        <p:nvPicPr>
          <p:cNvPr id="6" name="Picture 5" descr="fig05_dist_vs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40480"/>
            <a:ext cx="3749039" cy="2681604"/>
          </a:xfrm>
          <a:prstGeom prst="rect">
            <a:avLst/>
          </a:prstGeom>
        </p:spPr>
      </p:pic>
      <p:pic>
        <p:nvPicPr>
          <p:cNvPr id="7" name="Picture 6" descr="fig06_traff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3840480"/>
            <a:ext cx="3749039" cy="2307351"/>
          </a:xfrm>
          <a:prstGeom prst="rect">
            <a:avLst/>
          </a:prstGeom>
        </p:spPr>
      </p:pic>
      <p:pic>
        <p:nvPicPr>
          <p:cNvPr id="8" name="Picture 7" descr="fig07_weath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0" y="3840480"/>
            <a:ext cx="3474720" cy="205087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Model and why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68580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•  LightGBM with native categorical handling (no one-hot bloat).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•  Optuna 60-trial TPE search; 3-fold inner CV; final 5-fold KFold seed=42.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•  Tuned LGBM MAE = 3.053 ± 0.018  (per-fold [3.03, 3.07, 3.04, 3.08, 3.05]).</a:t>
            </a:r>
          </a:p>
        </p:txBody>
      </p:sp>
      <p:pic>
        <p:nvPicPr>
          <p:cNvPr id="6" name="Picture 5" descr="fig11_shap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463040"/>
            <a:ext cx="4937760" cy="56322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0350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94A3B8"/>
                </a:solidFill>
              </a:defRPr>
            </a:pPr>
            <a:r>
              <a:t>Feature importance — SHAP bar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Post-pivot features  (15:00 drop)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2DD4BF"/>
                </a:solidFill>
              </a:defRPr>
            </a:pPr>
            <a:r>
              <a:t>Auto-detect join key, build ≤ 3 features, retrain with the v1 tuned params on the same KFold.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11247120" cy="4937760"/>
          </a:xfrm>
          <a:prstGeom prst="rect">
            <a:avLst/>
          </a:prstGeom>
          <a:solidFill>
            <a:srgbClr val="12304A"/>
          </a:solidFill>
          <a:ln w="1270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ACC15"/>
                </a:solidFill>
              </a:defRPr>
            </a:pPr>
            <a:r>
              <a:t>READY — fills automatically when data/pivot/ receives 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•  Pipeline staged in notebooks/_run_pivot.py — single command at 15:00.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•  Auto-tries 6 join keys (Delivery_person_ID, Order_ID, ID, Restaurant_ID, City, Order_Date).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•  Drops any column with &gt;80% null after merge (noise filter).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•  Builds ≤3 features so this slide stays readable.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•  Retrains tuned v1 params on the new X matrix; same KFold seed=42.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•  Writes reports/delta.json with a 'ship_v2' boolean — auto-decides.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•  If delta ≤ 0.05 min we keep v1 (rulebook §6: data literacy &gt; vanity).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The delta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2DD4BF"/>
                </a:solidFill>
              </a:defRPr>
            </a:pPr>
            <a:r>
              <a:t>v1 vs v2 — same CV split, no cherry-picking.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3657600" cy="1371600"/>
          </a:xfrm>
          <a:prstGeom prst="rect">
            <a:avLst/>
          </a:prstGeom>
          <a:solidFill>
            <a:srgbClr val="12304A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527048"/>
            <a:ext cx="3657600" cy="7543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2DD4BF"/>
                </a:solidFill>
              </a:defRPr>
            </a:pPr>
            <a:r>
              <a:t>3.053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22576"/>
            <a:ext cx="365760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94A3B8"/>
                </a:solidFill>
              </a:defRPr>
            </a:pPr>
            <a:r>
              <a:t>v1 MAE (locked)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417320"/>
            <a:ext cx="3657600" cy="1371600"/>
          </a:xfrm>
          <a:prstGeom prst="rect">
            <a:avLst/>
          </a:prstGeom>
          <a:solidFill>
            <a:srgbClr val="12304A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527048"/>
            <a:ext cx="3657600" cy="7543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94A3B8"/>
                </a:solidFill>
              </a:defRPr>
            </a:pPr>
            <a:r>
              <a:t>TBA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322576"/>
            <a:ext cx="365760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94A3B8"/>
                </a:solidFill>
              </a:defRPr>
            </a:pPr>
            <a:r>
              <a:t>v2 MAE (15:00 drop)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92440" y="1417320"/>
            <a:ext cx="3657600" cy="1371600"/>
          </a:xfrm>
          <a:prstGeom prst="rect">
            <a:avLst/>
          </a:prstGeom>
          <a:solidFill>
            <a:srgbClr val="12304A"/>
          </a:solidFill>
          <a:ln w="1270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92440" y="1527048"/>
            <a:ext cx="3657600" cy="7543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FACC15"/>
                </a:solidFill>
              </a:defRPr>
            </a:pPr>
            <a:r>
              <a:t>TBA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2322576"/>
            <a:ext cx="365760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94A3B8"/>
                </a:solidFill>
              </a:defRPr>
            </a:pPr>
            <a:r>
              <a:t>Δ MAE (computed live)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017520"/>
            <a:ext cx="11247120" cy="3200400"/>
          </a:xfrm>
          <a:prstGeom prst="rect">
            <a:avLst/>
          </a:prstGeom>
          <a:solidFill>
            <a:srgbClr val="12304A"/>
          </a:solidFill>
          <a:ln w="1270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108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FACC15"/>
                </a:solidFill>
              </a:defRPr>
            </a:pPr>
            <a:r>
              <a:t>DECISION FRAMEWORK (locks at 17:00)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566160"/>
            <a:ext cx="108813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•  If Δ &gt; +0.05 min → ship v2; this slide updates with the per-fold bar chart.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•  If Δ ≤ +0.05 min → keep v1; slide 6 retitles to 'What the pivot data revealed'.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•  Current v1 = 3.053 ± 0.018; blend = 3.043.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•  Both branches are honest — rulebook §6 rewards correct verdicts over inflated claims.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Stability and interpretability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•  5-fold MAE std = 0.018  (≈1% of mean — model is stable).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•  Top SHAP features: Road_traffic_density, Delivery_person_Age, Delivery_person_Ratings, distance_km, Vehicle_condition.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•  No target leakage: prep_time is computed from order/pickup times only.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•  Blend (0.55 LGBM + 0.45 CatBoost) further improves to 3.043 (-0.010).</a:t>
            </a:r>
          </a:p>
        </p:txBody>
      </p:sp>
      <p:pic>
        <p:nvPicPr>
          <p:cNvPr id="6" name="Picture 5" descr="fig10_shap_beeswa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3840480"/>
            <a:ext cx="5029200" cy="581478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Limitations and what's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•  No real-time traffic API; weather is categorical only.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•  Coordinate noise contributes residual MAE — 431 rows had &gt;30 km haversine (capped, not dropped).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•  Next: quantile regression for ETA intervals + live traffic feed.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•  Stacked ensemble (LGBM + CatBoost + linear meta-learner) on the existing OOF preds — code path already saved.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Repo: github.com/TheClazer/Zomato-delivery-estimation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Tag: final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Q&amp;A — distance, traffic, blend, pivot, anything.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3796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DataVerse 2026  ·  BMSCE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