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286000"/>
            <a:ext cx="1097280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800" b="1">
                <a:solidFill>
                  <a:srgbClr val="FFFFFF"/>
                </a:solidFill>
              </a:defRPr>
            </a:pPr>
            <a:r>
              <a:t>Zomato Delivery Time Estimation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3832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>
                <a:solidFill>
                  <a:srgbClr val="2DD4BF"/>
                </a:solidFill>
              </a:defRPr>
            </a:pPr>
            <a:r>
              <a:t>A 10-hour ML sprint  ·  DataVerse 2026  ·  BMSCE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572000"/>
            <a:ext cx="109728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400"/>
              </a:spcAft>
              <a:defRPr sz="1600">
                <a:solidFill>
                  <a:srgbClr val="FFFFFF"/>
                </a:solidFill>
              </a:defRPr>
            </a:pPr>
            <a:r>
              <a:t>Team Hmmmmmmmmmm   ·   Suchit SM    Rayyan Shaikh    Ranadeep M</a:t>
            </a:r>
          </a:p>
          <a:p>
            <a:pPr>
              <a:spcAft>
                <a:spcPts val="400"/>
              </a:spcAft>
              <a:defRPr sz="1600">
                <a:solidFill>
                  <a:srgbClr val="FFFFFF"/>
                </a:solidFill>
              </a:defRPr>
            </a:pPr>
            <a:r>
              <a:t>github.com/TheClazer/Zomato-delivery-estimation</a:t>
            </a:r>
          </a:p>
          <a:p>
            <a:pPr>
              <a:spcAft>
                <a:spcPts val="400"/>
              </a:spcAft>
              <a:defRPr sz="1600">
                <a:solidFill>
                  <a:srgbClr val="FFFFFF"/>
                </a:solidFill>
              </a:defRPr>
            </a:pPr>
            <a:r>
              <a:t>EDA submission — 14:00 IST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What we're predicting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i="1">
                <a:solidFill>
                  <a:srgbClr val="2DD4BF"/>
                </a:solidFill>
              </a:defRPr>
            </a:pPr>
            <a:r>
              <a:t>Tabular regression on real delivery records — every minute saved is a happier customer.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17320"/>
            <a:ext cx="3657600" cy="1463040"/>
          </a:xfrm>
          <a:prstGeom prst="rect">
            <a:avLst/>
          </a:prstGeom>
          <a:solidFill>
            <a:srgbClr val="12304A"/>
          </a:solidFill>
          <a:ln w="127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527048"/>
            <a:ext cx="365760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 i="0">
                <a:solidFill>
                  <a:srgbClr val="2DD4BF"/>
                </a:solidFill>
              </a:defRPr>
            </a:pPr>
            <a:r>
              <a:t>Time_taken (min)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382926"/>
            <a:ext cx="36576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 i="0">
                <a:solidFill>
                  <a:srgbClr val="94A3B8"/>
                </a:solidFill>
              </a:defRPr>
            </a:pPr>
            <a:r>
              <a:t>TARGET COLUMN</a:t>
            </a:r>
          </a:p>
        </p:txBody>
      </p:sp>
      <p:sp>
        <p:nvSpPr>
          <p:cNvPr id="9" name="Rectangle 8"/>
          <p:cNvSpPr/>
          <p:nvPr/>
        </p:nvSpPr>
        <p:spPr>
          <a:xfrm>
            <a:off x="4297680" y="1417320"/>
            <a:ext cx="3657600" cy="1463040"/>
          </a:xfrm>
          <a:prstGeom prst="rect">
            <a:avLst/>
          </a:prstGeom>
          <a:solidFill>
            <a:srgbClr val="12304A"/>
          </a:solidFill>
          <a:ln w="127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0" y="1527048"/>
            <a:ext cx="365760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 i="0">
                <a:solidFill>
                  <a:srgbClr val="2DD4BF"/>
                </a:solidFill>
              </a:defRPr>
            </a:pPr>
            <a:r>
              <a:t>MAE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2382926"/>
            <a:ext cx="36576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 i="0">
                <a:solidFill>
                  <a:srgbClr val="94A3B8"/>
                </a:solidFill>
              </a:defRPr>
            </a:pPr>
            <a:r>
              <a:t>METRIC  ·  lower is better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92440" y="1417320"/>
            <a:ext cx="3657600" cy="1463040"/>
          </a:xfrm>
          <a:prstGeom prst="rect">
            <a:avLst/>
          </a:prstGeom>
          <a:solidFill>
            <a:srgbClr val="12304A"/>
          </a:solidFill>
          <a:ln w="12700">
            <a:solidFill>
              <a:srgbClr val="FACC1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92440" y="1527048"/>
            <a:ext cx="365760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 i="0">
                <a:solidFill>
                  <a:srgbClr val="FACC15"/>
                </a:solidFill>
              </a:defRPr>
            </a:pPr>
            <a:r>
              <a:t>3.05 min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92440" y="2382926"/>
            <a:ext cx="36576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 i="0">
                <a:solidFill>
                  <a:srgbClr val="94A3B8"/>
                </a:solidFill>
              </a:defRPr>
            </a:pPr>
            <a:r>
              <a:t>Our 5-fold tuned MAE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3154680"/>
            <a:ext cx="112471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FFFFFF"/>
                </a:solidFill>
              </a:defRPr>
            </a:pPr>
            <a:r>
              <a:t>•  Goal: predict the per-order delivery time given the order, rider, restaurant, traffic and weather.</a:t>
            </a:r>
          </a:p>
          <a:p>
            <a:pPr>
              <a:spcAft>
                <a:spcPts val="800"/>
              </a:spcAft>
              <a:defRPr sz="1500">
                <a:solidFill>
                  <a:srgbClr val="FFFFFF"/>
                </a:solidFill>
              </a:defRPr>
            </a:pPr>
            <a:r>
              <a:t>•  Stakes: accurate ETAs build customer trust, balance courier load, and reduce refund volume.</a:t>
            </a:r>
          </a:p>
          <a:p>
            <a:pPr>
              <a:spcAft>
                <a:spcPts val="800"/>
              </a:spcAft>
              <a:defRPr sz="1500">
                <a:solidFill>
                  <a:srgbClr val="FFFFFF"/>
                </a:solidFill>
              </a:defRPr>
            </a:pPr>
            <a:r>
              <a:t>•  Naïve mean baseline → MAE ≈ 7.6 min. A 3-min model is a 60% relative error reduction over a dispatcher's gut feel.</a:t>
            </a:r>
          </a:p>
          <a:p>
            <a:pPr>
              <a:spcAft>
                <a:spcPts val="800"/>
              </a:spcAft>
              <a:defRPr sz="1500">
                <a:solidFill>
                  <a:srgbClr val="FFFFFF"/>
                </a:solidFill>
              </a:defRPr>
            </a:pPr>
            <a:r>
              <a:t>•  5-fold KFold (seed 42)  ·  honest OOF  ·  R² = 0.833.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5532120"/>
            <a:ext cx="11247120" cy="914400"/>
          </a:xfrm>
          <a:prstGeom prst="rect">
            <a:avLst/>
          </a:prstGeom>
          <a:solidFill>
            <a:srgbClr val="12304A"/>
          </a:solidFill>
          <a:ln w="1270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560527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2DD4BF"/>
                </a:solidFill>
              </a:defRPr>
            </a:pPr>
            <a:r>
              <a:t>WHY THIS METRIC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591616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FFFFFF"/>
                </a:solidFill>
              </a:defRPr>
            </a:pPr>
            <a:r>
              <a:t>MAE penalises every minute equally and is the operational truth — a 10-min late order is twice as bad as a 5-min one.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The data at a glance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i="1">
                <a:solidFill>
                  <a:srgbClr val="2DD4BF"/>
                </a:solidFill>
              </a:defRPr>
            </a:pPr>
            <a:r>
              <a:t>Loaded from raw CSV. Cleaned inline. No leakage between features and target.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371600"/>
            <a:ext cx="2697480" cy="1005840"/>
          </a:xfrm>
          <a:prstGeom prst="rect">
            <a:avLst/>
          </a:prstGeom>
          <a:solidFill>
            <a:srgbClr val="12304A"/>
          </a:solidFill>
          <a:ln w="127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481328"/>
            <a:ext cx="2697480" cy="5532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 i="0">
                <a:solidFill>
                  <a:srgbClr val="2DD4BF"/>
                </a:solidFill>
              </a:defRPr>
            </a:pPr>
            <a:r>
              <a:t>45,153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035454"/>
            <a:ext cx="26974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 i="0">
                <a:solidFill>
                  <a:srgbClr val="94A3B8"/>
                </a:solidFill>
              </a:defRPr>
            </a:pPr>
            <a:r>
              <a:t>ROWS (after filter)</a:t>
            </a:r>
          </a:p>
        </p:txBody>
      </p:sp>
      <p:sp>
        <p:nvSpPr>
          <p:cNvPr id="9" name="Rectangle 8"/>
          <p:cNvSpPr/>
          <p:nvPr/>
        </p:nvSpPr>
        <p:spPr>
          <a:xfrm>
            <a:off x="3337560" y="1371600"/>
            <a:ext cx="2697480" cy="1005840"/>
          </a:xfrm>
          <a:prstGeom prst="rect">
            <a:avLst/>
          </a:prstGeom>
          <a:solidFill>
            <a:srgbClr val="12304A"/>
          </a:solidFill>
          <a:ln w="127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37560" y="1481328"/>
            <a:ext cx="2697480" cy="5532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 i="0">
                <a:solidFill>
                  <a:srgbClr val="2DD4BF"/>
                </a:solidFill>
              </a:defRPr>
            </a:pPr>
            <a:r>
              <a:t>21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37560" y="2035454"/>
            <a:ext cx="26974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 i="0">
                <a:solidFill>
                  <a:srgbClr val="94A3B8"/>
                </a:solidFill>
              </a:defRPr>
            </a:pPr>
            <a:r>
              <a:t>COLUMNS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72200" y="1371600"/>
            <a:ext cx="2697480" cy="1005840"/>
          </a:xfrm>
          <a:prstGeom prst="rect">
            <a:avLst/>
          </a:prstGeom>
          <a:solidFill>
            <a:srgbClr val="12304A"/>
          </a:solidFill>
          <a:ln w="127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72200" y="1481328"/>
            <a:ext cx="2697480" cy="5532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 i="0">
                <a:solidFill>
                  <a:srgbClr val="2DD4BF"/>
                </a:solidFill>
              </a:defRPr>
            </a:pPr>
            <a:r>
              <a:t>26 min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72200" y="2035454"/>
            <a:ext cx="26974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 i="0">
                <a:solidFill>
                  <a:srgbClr val="94A3B8"/>
                </a:solidFill>
              </a:defRPr>
            </a:pPr>
            <a:r>
              <a:t>MEDIAN ETA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006840" y="1371600"/>
            <a:ext cx="2697480" cy="1005840"/>
          </a:xfrm>
          <a:prstGeom prst="rect">
            <a:avLst/>
          </a:prstGeom>
          <a:solidFill>
            <a:srgbClr val="12304A"/>
          </a:solidFill>
          <a:ln w="12700">
            <a:solidFill>
              <a:srgbClr val="FACC1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06840" y="1481328"/>
            <a:ext cx="2697480" cy="5532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 i="0">
                <a:solidFill>
                  <a:srgbClr val="FACC15"/>
                </a:solidFill>
              </a:defRPr>
            </a:pPr>
            <a:r>
              <a:t>10–54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06840" y="2035454"/>
            <a:ext cx="26974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 i="0">
                <a:solidFill>
                  <a:srgbClr val="94A3B8"/>
                </a:solidFill>
              </a:defRPr>
            </a:pPr>
            <a:r>
              <a:t>RANGE (min)</a:t>
            </a:r>
          </a:p>
        </p:txBody>
      </p:sp>
      <p:pic>
        <p:nvPicPr>
          <p:cNvPr id="18" name="Picture 17" descr="fig01_target_d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560320"/>
            <a:ext cx="6766560" cy="4072573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502920" y="598932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>
                <a:solidFill>
                  <a:srgbClr val="94A3B8"/>
                </a:solidFill>
              </a:defRPr>
            </a:pPr>
            <a:r>
              <a:t>fig01 — Histogram of delivery time. Mean (black) and median (red) overlaid.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498079" y="2560320"/>
            <a:ext cx="4297680" cy="3474720"/>
          </a:xfrm>
          <a:prstGeom prst="rect">
            <a:avLst/>
          </a:prstGeom>
          <a:solidFill>
            <a:srgbClr val="12304A"/>
          </a:solidFill>
          <a:ln w="127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35240" y="2651760"/>
            <a:ext cx="4023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2DD4BF"/>
                </a:solidFill>
              </a:defRPr>
            </a:pPr>
            <a:r>
              <a:t>TOP MISSINGNESS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35240" y="2971800"/>
            <a:ext cx="40233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FFFFFF"/>
                </a:solidFill>
              </a:defRPr>
            </a:pPr>
            <a:r>
              <a:t>  •  Delivery_person_Ratings: 3.7%</a:t>
            </a:r>
            <a:br/>
            <a:r>
              <a:t>  •  Delivery_person_Age: 3.6%</a:t>
            </a:r>
            <a:br/>
            <a:r>
              <a:t>  •  Time_Orderd: 3.2%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35240" y="4572000"/>
            <a:ext cx="40233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1">
                <a:solidFill>
                  <a:srgbClr val="94A3B8"/>
                </a:solidFill>
              </a:defRPr>
            </a:pPr>
            <a:r>
              <a:t>All other columns &lt; 0.5% missing. Target rows missing are dropped. Numeric NaN is preserved — LightGBM splits on missing natively.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How we cleaned the noise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i="1">
                <a:solidFill>
                  <a:srgbClr val="2DD4BF"/>
                </a:solidFill>
              </a:defRPr>
            </a:pPr>
            <a:r>
              <a:t>Eight cleaning steps — every line is in src/data.py with comments.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371600"/>
            <a:ext cx="5486400" cy="4937760"/>
          </a:xfrm>
          <a:prstGeom prst="rect">
            <a:avLst/>
          </a:prstGeom>
          <a:solidFill>
            <a:srgbClr val="12304A"/>
          </a:solidFill>
          <a:ln w="12700"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5212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F87171"/>
                </a:solidFill>
              </a:defRPr>
            </a:pPr>
            <a:r>
              <a:t>BEFORE  —  raw CSV pain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4519"/>
            <a:ext cx="53035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FFFFFF"/>
                </a:solidFill>
              </a:defRPr>
            </a:pPr>
            <a:r>
              <a:t>•  "NaN" / "nan" string sentinels in numeric columns</a:t>
            </a:r>
          </a:p>
          <a:p>
            <a:pPr>
              <a:spcAft>
                <a:spcPts val="800"/>
              </a:spcAft>
              <a:defRPr sz="1100">
                <a:solidFill>
                  <a:srgbClr val="FFFFFF"/>
                </a:solidFill>
              </a:defRPr>
            </a:pPr>
            <a:r>
              <a:t>•  "(min) 24" instead of integer 24 in target</a:t>
            </a:r>
          </a:p>
          <a:p>
            <a:pPr>
              <a:spcAft>
                <a:spcPts val="800"/>
              </a:spcAft>
              <a:defRPr sz="1100">
                <a:solidFill>
                  <a:srgbClr val="FFFFFF"/>
                </a:solidFill>
              </a:defRPr>
            </a:pPr>
            <a:r>
              <a:t>•  "conditions Stormy" prefix in Weather</a:t>
            </a:r>
          </a:p>
          <a:p>
            <a:pPr>
              <a:spcAft>
                <a:spcPts val="800"/>
              </a:spcAft>
              <a:defRPr sz="1100">
                <a:solidFill>
                  <a:srgbClr val="FFFFFF"/>
                </a:solidFill>
              </a:defRPr>
            </a:pPr>
            <a:r>
              <a:t>•  Rider ratings up to 6.0 (above the 5-star ceiling)</a:t>
            </a:r>
          </a:p>
          <a:p>
            <a:pPr>
              <a:spcAft>
                <a:spcPts val="800"/>
              </a:spcAft>
              <a:defRPr sz="1100">
                <a:solidFill>
                  <a:srgbClr val="FFFFFF"/>
                </a:solidFill>
              </a:defRPr>
            </a:pPr>
            <a:r>
              <a:t>•  Zero-island coordinates (lat=0, lon=0 in Atlantic)</a:t>
            </a:r>
          </a:p>
          <a:p>
            <a:pPr>
              <a:spcAft>
                <a:spcPts val="800"/>
              </a:spcAft>
              <a:defRPr sz="1100">
                <a:solidFill>
                  <a:srgbClr val="FFFFFF"/>
                </a:solidFill>
              </a:defRPr>
            </a:pPr>
            <a:r>
              <a:t>•  Distance up to 19,692 km on a food order</a:t>
            </a:r>
          </a:p>
          <a:p>
            <a:pPr>
              <a:spcAft>
                <a:spcPts val="800"/>
              </a:spcAft>
              <a:defRPr sz="1100">
                <a:solidFill>
                  <a:srgbClr val="FFFFFF"/>
                </a:solidFill>
              </a:defRPr>
            </a:pPr>
            <a:r>
              <a:t>•  Date strings in DD-MM-YYYY format</a:t>
            </a:r>
          </a:p>
        </p:txBody>
      </p:sp>
      <p:sp>
        <p:nvSpPr>
          <p:cNvPr id="9" name="Rectangle 8"/>
          <p:cNvSpPr/>
          <p:nvPr/>
        </p:nvSpPr>
        <p:spPr>
          <a:xfrm>
            <a:off x="6263640" y="1371600"/>
            <a:ext cx="5486400" cy="4937760"/>
          </a:xfrm>
          <a:prstGeom prst="rect">
            <a:avLst/>
          </a:prstGeom>
          <a:solidFill>
            <a:srgbClr val="12304A"/>
          </a:solidFill>
          <a:ln w="12700">
            <a:solidFill>
              <a:srgbClr val="4ADE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463040"/>
            <a:ext cx="5212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4ADE80"/>
                </a:solidFill>
              </a:defRPr>
            </a:pPr>
            <a:r>
              <a:t>AFTER  —  load_clean() output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1874519"/>
            <a:ext cx="53035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FFFFFF"/>
                </a:solidFill>
              </a:defRPr>
            </a:pPr>
            <a:r>
              <a:t>•  Real np.nan; no string sentinels survive</a:t>
            </a:r>
          </a:p>
          <a:p>
            <a:pPr>
              <a:spcAft>
                <a:spcPts val="800"/>
              </a:spcAft>
              <a:defRPr sz="1100">
                <a:solidFill>
                  <a:srgbClr val="FFFFFF"/>
                </a:solidFill>
              </a:defRPr>
            </a:pPr>
            <a:r>
              <a:t>•  pd.to_numeric(errors='coerce') → clean float target</a:t>
            </a:r>
          </a:p>
          <a:p>
            <a:pPr>
              <a:spcAft>
                <a:spcPts val="800"/>
              </a:spcAft>
              <a:defRPr sz="1100">
                <a:solidFill>
                  <a:srgbClr val="FFFFFF"/>
                </a:solidFill>
              </a:defRPr>
            </a:pPr>
            <a:r>
              <a:t>•  str.replace('conditions ', '') on Weather</a:t>
            </a:r>
          </a:p>
          <a:p>
            <a:pPr>
              <a:spcAft>
                <a:spcPts val="800"/>
              </a:spcAft>
              <a:defRPr sz="1100">
                <a:solidFill>
                  <a:srgbClr val="FFFFFF"/>
                </a:solidFill>
              </a:defRPr>
            </a:pPr>
            <a:r>
              <a:t>•  Ratings &gt; 5 capped to NaN, not dropped</a:t>
            </a:r>
          </a:p>
          <a:p>
            <a:pPr>
              <a:spcAft>
                <a:spcPts val="800"/>
              </a:spcAft>
              <a:defRPr sz="1100">
                <a:solidFill>
                  <a:srgbClr val="FFFFFF"/>
                </a:solidFill>
              </a:defRPr>
            </a:pPr>
            <a:r>
              <a:t>•  Coord filter: all 4 |lat/lon| &gt; 1 keeps real locations</a:t>
            </a:r>
          </a:p>
          <a:p>
            <a:pPr>
              <a:spcAft>
                <a:spcPts val="800"/>
              </a:spcAft>
              <a:defRPr sz="1100">
                <a:solidFill>
                  <a:srgbClr val="FFFFFF"/>
                </a:solidFill>
              </a:defRPr>
            </a:pPr>
            <a:r>
              <a:t>•  30-km haversine cap (food-delivery physics) → NaN</a:t>
            </a:r>
          </a:p>
          <a:p>
            <a:pPr>
              <a:spcAft>
                <a:spcPts val="800"/>
              </a:spcAft>
              <a:defRPr sz="1100">
                <a:solidFill>
                  <a:srgbClr val="FFFFFF"/>
                </a:solidFill>
              </a:defRPr>
            </a:pPr>
            <a:r>
              <a:t>•  dayfirst=True parses Indian dates correctly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Distance is a clean primary signal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i="1">
                <a:solidFill>
                  <a:srgbClr val="2DD4BF"/>
                </a:solidFill>
              </a:defRPr>
            </a:pPr>
            <a:r>
              <a:t>Strong univariate trend — but SHAP later reveals it isn't actually the dominant feature.</a:t>
            </a:r>
          </a:p>
        </p:txBody>
      </p:sp>
      <p:pic>
        <p:nvPicPr>
          <p:cNvPr id="6" name="Picture 5" descr="fig05_dist_vs_t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371600"/>
            <a:ext cx="6949440" cy="49707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65760" y="598932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>
                <a:solidFill>
                  <a:srgbClr val="94A3B8"/>
                </a:solidFill>
              </a:defRPr>
            </a:pPr>
            <a:r>
              <a:t>fig05 — Scatter (8,000-row sample) + linear regression; Spearman ρ overlaid</a:t>
            </a:r>
          </a:p>
        </p:txBody>
      </p:sp>
      <p:sp>
        <p:nvSpPr>
          <p:cNvPr id="8" name="Rectangle 7"/>
          <p:cNvSpPr/>
          <p:nvPr/>
        </p:nvSpPr>
        <p:spPr>
          <a:xfrm>
            <a:off x="7589520" y="1371600"/>
            <a:ext cx="4160520" cy="1188720"/>
          </a:xfrm>
          <a:prstGeom prst="rect">
            <a:avLst/>
          </a:prstGeom>
          <a:solidFill>
            <a:srgbClr val="12304A"/>
          </a:solidFill>
          <a:ln w="127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89520" y="1481328"/>
            <a:ext cx="4160520" cy="6537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 i="0">
                <a:solidFill>
                  <a:srgbClr val="2DD4BF"/>
                </a:solidFill>
              </a:defRPr>
            </a:pPr>
            <a:r>
              <a:t>ρ = 0.33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0" y="2156155"/>
            <a:ext cx="4160520" cy="3566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 i="0">
                <a:solidFill>
                  <a:srgbClr val="94A3B8"/>
                </a:solidFill>
              </a:defRPr>
            </a:pPr>
            <a:r>
              <a:t>SPEARMAN CORRELATION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589520" y="2697480"/>
            <a:ext cx="4160520" cy="1188720"/>
          </a:xfrm>
          <a:prstGeom prst="rect">
            <a:avLst/>
          </a:prstGeom>
          <a:solidFill>
            <a:srgbClr val="12304A"/>
          </a:solidFill>
          <a:ln w="12700">
            <a:solidFill>
              <a:srgbClr val="FACC1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89520" y="2807208"/>
            <a:ext cx="4160520" cy="6537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 i="0">
                <a:solidFill>
                  <a:srgbClr val="FACC15"/>
                </a:solidFill>
              </a:defRPr>
            </a:pPr>
            <a:r>
              <a:t>≈ 1.0 min / km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89520" y="3482035"/>
            <a:ext cx="4160520" cy="3566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 i="0">
                <a:solidFill>
                  <a:srgbClr val="94A3B8"/>
                </a:solidFill>
              </a:defRPr>
            </a:pPr>
            <a:r>
              <a:t>regression slope (approx)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89520" y="4023360"/>
            <a:ext cx="41605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>
                <a:solidFill>
                  <a:srgbClr val="FFFFFF"/>
                </a:solidFill>
              </a:defRPr>
            </a:pPr>
            <a:r>
              <a:t>•  Clean monotonic trend across 0.5–50 km.</a:t>
            </a:r>
          </a:p>
          <a:p>
            <a:pPr>
              <a:spcAft>
                <a:spcPts val="800"/>
              </a:spcAft>
              <a:defRPr sz="1200">
                <a:solidFill>
                  <a:srgbClr val="FFFFFF"/>
                </a:solidFill>
              </a:defRPr>
            </a:pPr>
            <a:r>
              <a:t>•  Heteroscedasticity grows past 15 km — more variance, fewer orders.</a:t>
            </a:r>
          </a:p>
          <a:p>
            <a:pPr>
              <a:spcAft>
                <a:spcPts val="800"/>
              </a:spcAft>
              <a:defRPr sz="1200">
                <a:solidFill>
                  <a:srgbClr val="FFFFFF"/>
                </a:solidFill>
              </a:defRPr>
            </a:pPr>
            <a:r>
              <a:t>•  Distance alone gets MAE ≈ 4.5 min; traffic + prep + rider needed for 3.0.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Traffic and weather compound the delay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i="1">
                <a:solidFill>
                  <a:srgbClr val="2DD4BF"/>
                </a:solidFill>
              </a:defRPr>
            </a:pPr>
            <a:r>
              <a:t>Two non-linear amplifiers that pure distance models miss.</a:t>
            </a:r>
          </a:p>
        </p:txBody>
      </p:sp>
      <p:pic>
        <p:nvPicPr>
          <p:cNvPr id="6" name="Picture 5" descr="fig06_traff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325880"/>
            <a:ext cx="5760720" cy="3545443"/>
          </a:xfrm>
          <a:prstGeom prst="rect">
            <a:avLst/>
          </a:prstGeom>
        </p:spPr>
      </p:pic>
      <p:pic>
        <p:nvPicPr>
          <p:cNvPr id="7" name="Picture 6" descr="fig07_weath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1325880"/>
            <a:ext cx="5760720" cy="3400141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365760" y="4800600"/>
            <a:ext cx="5760720" cy="1417320"/>
          </a:xfrm>
          <a:prstGeom prst="rect">
            <a:avLst/>
          </a:prstGeom>
          <a:solidFill>
            <a:srgbClr val="12304A"/>
          </a:solidFill>
          <a:ln w="12700">
            <a:solidFill>
              <a:srgbClr val="FACC1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487375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FACC15"/>
                </a:solidFill>
              </a:defRPr>
            </a:pPr>
            <a:r>
              <a:t>TRAFFIC  ·  H2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5184648"/>
            <a:ext cx="54864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FFFFFF"/>
                </a:solidFill>
              </a:defRPr>
            </a:pPr>
            <a:r>
              <a:t>ANOVA F=3390.2 (p=0.00e+00). Median time grows monotonically Low → Medium → High → Jam. 'Jam' alone predicts roughly +15 min over baseline.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63640" y="4800600"/>
            <a:ext cx="5760720" cy="1417320"/>
          </a:xfrm>
          <a:prstGeom prst="rect">
            <a:avLst/>
          </a:prstGeom>
          <a:solidFill>
            <a:srgbClr val="12304A"/>
          </a:solidFill>
          <a:ln w="1270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487375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2DD4BF"/>
                </a:solidFill>
              </a:defRPr>
            </a:pPr>
            <a:r>
              <a:t>WEATHER  ·  H3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5184648"/>
            <a:ext cx="54864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FFFFFF"/>
                </a:solidFill>
              </a:defRPr>
            </a:pPr>
            <a:r>
              <a:t>Bad weather (Stormy / Fog / Sandstorms) is +6.0 min median over Sunny. Mann-Whitney one-sided p=0.00e+00.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Three smaller but real signals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i="1">
                <a:solidFill>
                  <a:srgbClr val="2DD4BF"/>
                </a:solidFill>
              </a:defRPr>
            </a:pPr>
            <a:r>
              <a:t>Features that move MAE 0.2–0.4 min each — small alone, multiplicative together.</a:t>
            </a:r>
          </a:p>
        </p:txBody>
      </p:sp>
      <p:pic>
        <p:nvPicPr>
          <p:cNvPr id="6" name="Picture 5" descr="fig08_multi_delive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371600"/>
            <a:ext cx="5943600" cy="365799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65760" y="598932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>
                <a:solidFill>
                  <a:srgbClr val="94A3B8"/>
                </a:solidFill>
              </a:defRPr>
            </a:pPr>
            <a:r>
              <a:t>fig08 — Time by number of multi-deliveries</a:t>
            </a:r>
          </a:p>
        </p:txBody>
      </p:sp>
      <p:sp>
        <p:nvSpPr>
          <p:cNvPr id="8" name="Rectangle 7"/>
          <p:cNvSpPr/>
          <p:nvPr/>
        </p:nvSpPr>
        <p:spPr>
          <a:xfrm>
            <a:off x="6537960" y="1371600"/>
            <a:ext cx="5212080" cy="1234440"/>
          </a:xfrm>
          <a:prstGeom prst="rect">
            <a:avLst/>
          </a:prstGeom>
          <a:solidFill>
            <a:srgbClr val="12304A"/>
          </a:solidFill>
          <a:ln w="127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37960" y="1481328"/>
            <a:ext cx="5212080" cy="6789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 i="0">
                <a:solidFill>
                  <a:srgbClr val="2DD4BF"/>
                </a:solidFill>
              </a:defRPr>
            </a:pPr>
            <a:r>
              <a:t>ρ = 0.34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37960" y="2186330"/>
            <a:ext cx="5212080" cy="370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 i="0">
                <a:solidFill>
                  <a:srgbClr val="94A3B8"/>
                </a:solidFill>
              </a:defRPr>
            </a:pPr>
            <a:r>
              <a:t>Multi-deliveries ↔ time (Spearman)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37960" y="2743200"/>
            <a:ext cx="5212080" cy="1234440"/>
          </a:xfrm>
          <a:prstGeom prst="rect">
            <a:avLst/>
          </a:prstGeom>
          <a:solidFill>
            <a:srgbClr val="12304A"/>
          </a:solidFill>
          <a:ln w="12700">
            <a:solidFill>
              <a:srgbClr val="FACC1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37960" y="2852928"/>
            <a:ext cx="5212080" cy="6789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 i="0">
                <a:solidFill>
                  <a:srgbClr val="FACC15"/>
                </a:solidFill>
              </a:defRPr>
            </a:pPr>
            <a:r>
              <a:t>+19.5 min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60" y="3557930"/>
            <a:ext cx="5212080" cy="370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 i="0">
                <a:solidFill>
                  <a:srgbClr val="94A3B8"/>
                </a:solidFill>
              </a:defRPr>
            </a:pPr>
            <a:r>
              <a:t>Festival uplift (Welch t)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37960" y="4114800"/>
            <a:ext cx="5212080" cy="1234440"/>
          </a:xfrm>
          <a:prstGeom prst="rect">
            <a:avLst/>
          </a:prstGeom>
          <a:solidFill>
            <a:srgbClr val="12304A"/>
          </a:solidFill>
          <a:ln w="127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37960" y="4224528"/>
            <a:ext cx="5212080" cy="6789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 i="0">
                <a:solidFill>
                  <a:srgbClr val="94A3B8"/>
                </a:solidFill>
              </a:defRPr>
            </a:pPr>
            <a:r>
              <a:t>weak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37960" y="4929530"/>
            <a:ext cx="5212080" cy="370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 i="0">
                <a:solidFill>
                  <a:srgbClr val="94A3B8"/>
                </a:solidFill>
              </a:defRPr>
            </a:pPr>
            <a:r>
              <a:t>Rider age effect after distance/rating control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7960" y="5486400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1">
                <a:solidFill>
                  <a:srgbClr val="94A3B8"/>
                </a:solidFill>
              </a:defRPr>
            </a:pPr>
            <a:r>
              <a:t>Welch t-test p ≈ p=0.00e+00  ·  each extra concurrent drop adds measurable minutes.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The signal the raw scatter hides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i="1">
                <a:solidFill>
                  <a:srgbClr val="2DD4BF"/>
                </a:solidFill>
              </a:defRPr>
            </a:pPr>
            <a:r>
              <a:t>Univariate plots say distance is king. SHAP on the tuned model says otherwise.</a:t>
            </a:r>
          </a:p>
        </p:txBody>
      </p:sp>
      <p:pic>
        <p:nvPicPr>
          <p:cNvPr id="6" name="Picture 5" descr="fig11_shap_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325880"/>
            <a:ext cx="6035040" cy="688385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65760" y="598932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>
                <a:solidFill>
                  <a:srgbClr val="94A3B8"/>
                </a:solidFill>
              </a:defRPr>
            </a:pPr>
            <a:r>
              <a:t>fig11 — SHAP bar plot, top features by mean |SHAP|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0" y="1325880"/>
            <a:ext cx="5212080" cy="4846320"/>
          </a:xfrm>
          <a:prstGeom prst="rect">
            <a:avLst/>
          </a:prstGeom>
          <a:solidFill>
            <a:srgbClr val="12304A"/>
          </a:solidFill>
          <a:ln w="12700">
            <a:solidFill>
              <a:srgbClr val="FACC1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20840" y="146304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FACC15"/>
                </a:solidFill>
              </a:defRPr>
            </a:pPr>
            <a:r>
              <a:t>THE BURIED INSIGHT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20840" y="1828800"/>
            <a:ext cx="4937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FFFFFF"/>
                </a:solidFill>
              </a:defRPr>
            </a:pPr>
            <a:r>
              <a:t>Road_traffic_density is the #1 feature.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20840" y="2606040"/>
            <a:ext cx="49377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>
                <a:solidFill>
                  <a:srgbClr val="FFFFFF"/>
                </a:solidFill>
              </a:defRPr>
            </a:pPr>
            <a:r>
              <a:t>•  Distance ranks 4th in SHAP — below rider age and rating.</a:t>
            </a:r>
          </a:p>
          <a:p>
            <a:pPr>
              <a:spcAft>
                <a:spcPts val="800"/>
              </a:spcAft>
              <a:defRPr sz="1200">
                <a:solidFill>
                  <a:srgbClr val="FFFFFF"/>
                </a:solidFill>
              </a:defRPr>
            </a:pPr>
            <a:r>
              <a:t>•  Univariate ρ = 0.32 is real but moderate; the model uses distance INSIDE traffic strata.</a:t>
            </a:r>
          </a:p>
          <a:p>
            <a:pPr>
              <a:spcAft>
                <a:spcPts val="800"/>
              </a:spcAft>
              <a:defRPr sz="1200">
                <a:solidFill>
                  <a:srgbClr val="FFFFFF"/>
                </a:solidFill>
              </a:defRPr>
            </a:pPr>
            <a:r>
              <a:t>•  In Jam conditions, a 5 km order takes longer than a 15 km order in Low traffic.</a:t>
            </a:r>
          </a:p>
          <a:p>
            <a:pPr>
              <a:spcAft>
                <a:spcPts val="800"/>
              </a:spcAft>
              <a:defRPr sz="1200">
                <a:solidFill>
                  <a:srgbClr val="FFFFFF"/>
                </a:solidFill>
              </a:defRPr>
            </a:pPr>
            <a:r>
              <a:t>•  Implication: an ETA model without live traffic over-promises in jams, under-promises in low.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What we built  +  what we tested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i="1">
                <a:solidFill>
                  <a:srgbClr val="2DD4BF"/>
                </a:solidFill>
              </a:defRPr>
            </a:pPr>
            <a:r>
              <a:t>13 numeric + 6 categorical features. Five hypotheses, all significant at p &lt; 0.05.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325880"/>
            <a:ext cx="5577840" cy="4937760"/>
          </a:xfrm>
          <a:prstGeom prst="rect">
            <a:avLst/>
          </a:prstGeom>
          <a:solidFill>
            <a:srgbClr val="12304A"/>
          </a:solidFill>
          <a:ln w="127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417320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2DD4BF"/>
                </a:solidFill>
              </a:defRPr>
            </a:pPr>
            <a:r>
              <a:t>FEATURE FACTORY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783080"/>
            <a:ext cx="53035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FFFFFF"/>
                </a:solidFill>
              </a:defRPr>
            </a:pPr>
            <a:r>
              <a:t>•  distance_km — haversine, capped at 30 km (physical)</a:t>
            </a:r>
          </a:p>
          <a:p>
            <a:pPr>
              <a:spcAft>
                <a:spcPts val="800"/>
              </a:spcAft>
              <a:defRPr sz="1100">
                <a:solidFill>
                  <a:srgbClr val="FFFFFF"/>
                </a:solidFill>
              </a:defRPr>
            </a:pPr>
            <a:r>
              <a:t>•  prep_time_min — picked − ordered, midnight-safe</a:t>
            </a:r>
          </a:p>
          <a:p>
            <a:pPr>
              <a:spcAft>
                <a:spcPts val="800"/>
              </a:spcAft>
              <a:defRPr sz="1100">
                <a:solidFill>
                  <a:srgbClr val="FFFFFF"/>
                </a:solidFill>
              </a:defRPr>
            </a:pPr>
            <a:r>
              <a:t>•  order_hour, is_peak_lunch (11-14), is_peak_dinner (19-22)</a:t>
            </a:r>
          </a:p>
          <a:p>
            <a:pPr>
              <a:spcAft>
                <a:spcPts val="800"/>
              </a:spcAft>
              <a:defRPr sz="1100">
                <a:solidFill>
                  <a:srgbClr val="FFFFFF"/>
                </a:solidFill>
              </a:defRPr>
            </a:pPr>
            <a:r>
              <a:t>•  is_late_night (≥22 or ≤5), is_weekend, day_of_week, month</a:t>
            </a:r>
          </a:p>
          <a:p>
            <a:pPr>
              <a:spcAft>
                <a:spcPts val="800"/>
              </a:spcAft>
              <a:defRPr sz="1100">
                <a:solidFill>
                  <a:srgbClr val="FFFFFF"/>
                </a:solidFill>
              </a:defRPr>
            </a:pPr>
            <a:r>
              <a:t>•  Delivery_person_Age, Delivery_person_Ratings</a:t>
            </a:r>
          </a:p>
          <a:p>
            <a:pPr>
              <a:spcAft>
                <a:spcPts val="800"/>
              </a:spcAft>
              <a:defRPr sz="1100">
                <a:solidFill>
                  <a:srgbClr val="FFFFFF"/>
                </a:solidFill>
              </a:defRPr>
            </a:pPr>
            <a:r>
              <a:t>•  Vehicle_condition, multiple_deliveries</a:t>
            </a:r>
          </a:p>
          <a:p>
            <a:pPr>
              <a:spcAft>
                <a:spcPts val="800"/>
              </a:spcAft>
              <a:defRPr sz="1100">
                <a:solidFill>
                  <a:srgbClr val="FFFFFF"/>
                </a:solidFill>
              </a:defRPr>
            </a:pPr>
            <a:r>
              <a:t>•  Categorical (no one-hot — LGBM native):</a:t>
            </a:r>
          </a:p>
          <a:p>
            <a:pPr>
              <a:spcAft>
                <a:spcPts val="800"/>
              </a:spcAft>
              <a:defRPr sz="1100">
                <a:solidFill>
                  <a:srgbClr val="FFFFFF"/>
                </a:solidFill>
              </a:defRPr>
            </a:pPr>
            <a:r>
              <a:t>•    Weather_conditions, Road_traffic_density,</a:t>
            </a:r>
          </a:p>
          <a:p>
            <a:pPr>
              <a:spcAft>
                <a:spcPts val="800"/>
              </a:spcAft>
              <a:defRPr sz="1100">
                <a:solidFill>
                  <a:srgbClr val="FFFFFF"/>
                </a:solidFill>
              </a:defRPr>
            </a:pPr>
            <a:r>
              <a:t>•    Type_of_vehicle, Type_of_order, City, Festival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0" y="1417320"/>
            <a:ext cx="5760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2DD4BF"/>
                </a:solidFill>
              </a:defRPr>
            </a:pPr>
            <a:r>
              <a:t>STATISTICAL TESTS</a:t>
            </a:r>
          </a:p>
        </p:txBody>
      </p:sp>
      <p:pic>
        <p:nvPicPr>
          <p:cNvPr id="10" name="Picture 9" descr="fig09_hypotheses_ta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1737360"/>
            <a:ext cx="6035040" cy="2002711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989320" y="5486400"/>
            <a:ext cx="5943600" cy="868680"/>
          </a:xfrm>
          <a:prstGeom prst="rect">
            <a:avLst/>
          </a:prstGeom>
          <a:solidFill>
            <a:srgbClr val="12304A"/>
          </a:solidFill>
          <a:ln w="12700">
            <a:solidFill>
              <a:srgbClr val="4ADE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26480" y="5559552"/>
            <a:ext cx="5669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4ADE80"/>
                </a:solidFill>
              </a:defRPr>
            </a:pPr>
            <a:r>
              <a:t>VERDICT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5870448"/>
            <a:ext cx="5669280" cy="4114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FFFFFF"/>
                </a:solidFill>
              </a:defRPr>
            </a:pPr>
            <a:r>
              <a:t>5 of 5 hypotheses significant at p &lt; 0.05. The signal is real; the question is how much each adds in combination.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What we'd do next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i="1">
                <a:solidFill>
                  <a:srgbClr val="2DD4BF"/>
                </a:solidFill>
              </a:defRPr>
            </a:pPr>
            <a:r>
              <a:t>Concrete extensions, not vague aspirations.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371600"/>
            <a:ext cx="5486400" cy="4937760"/>
          </a:xfrm>
          <a:prstGeom prst="rect">
            <a:avLst/>
          </a:prstGeom>
          <a:solidFill>
            <a:srgbClr val="12304A"/>
          </a:solidFill>
          <a:ln w="1270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5212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2DD4BF"/>
                </a:solidFill>
              </a:defRPr>
            </a:pPr>
            <a:r>
              <a:t>DATA  &amp;  FEATURES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4519"/>
            <a:ext cx="53035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>
                <a:solidFill>
                  <a:srgbClr val="FFFFFF"/>
                </a:solidFill>
              </a:defRPr>
            </a:pPr>
            <a:r>
              <a:t>•  Real-time traffic API — SHAP shows traffic is #1; live data uncaps it.</a:t>
            </a:r>
          </a:p>
          <a:p>
            <a:pPr>
              <a:spcAft>
                <a:spcPts val="800"/>
              </a:spcAft>
              <a:defRPr sz="1200">
                <a:solidFill>
                  <a:srgbClr val="FFFFFF"/>
                </a:solidFill>
              </a:defRPr>
            </a:pPr>
            <a:r>
              <a:t>•  Restaurant prep-time rolling mean (per restaurant_id × hour).</a:t>
            </a:r>
          </a:p>
          <a:p>
            <a:pPr>
              <a:spcAft>
                <a:spcPts val="800"/>
              </a:spcAft>
              <a:defRPr sz="1200">
                <a:solidFill>
                  <a:srgbClr val="FFFFFF"/>
                </a:solidFill>
              </a:defRPr>
            </a:pPr>
            <a:r>
              <a:t>•  Rider-history: avg delivery time over their last N orders.</a:t>
            </a:r>
          </a:p>
          <a:p>
            <a:pPr>
              <a:spcAft>
                <a:spcPts val="800"/>
              </a:spcAft>
              <a:defRPr sz="1200">
                <a:solidFill>
                  <a:srgbClr val="FFFFFF"/>
                </a:solidFill>
              </a:defRPr>
            </a:pPr>
            <a:r>
              <a:t>•  Weather severity numeric (intensity, not just category).</a:t>
            </a:r>
          </a:p>
          <a:p>
            <a:pPr>
              <a:spcAft>
                <a:spcPts val="800"/>
              </a:spcAft>
              <a:defRPr sz="1200">
                <a:solidFill>
                  <a:srgbClr val="FFFFFF"/>
                </a:solidFill>
              </a:defRPr>
            </a:pPr>
            <a:r>
              <a:t>•  City demand index — orders per hour as a zone feature.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63640" y="1371600"/>
            <a:ext cx="5486400" cy="4937760"/>
          </a:xfrm>
          <a:prstGeom prst="rect">
            <a:avLst/>
          </a:prstGeom>
          <a:solidFill>
            <a:srgbClr val="12304A"/>
          </a:solidFill>
          <a:ln w="12700">
            <a:solidFill>
              <a:srgbClr val="FACC1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463040"/>
            <a:ext cx="5212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FACC15"/>
                </a:solidFill>
              </a:defRPr>
            </a:pPr>
            <a:r>
              <a:t>MODEL  &amp;  OUTPUT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1874519"/>
            <a:ext cx="53035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>
                <a:solidFill>
                  <a:srgbClr val="FFFFFF"/>
                </a:solidFill>
              </a:defRPr>
            </a:pPr>
            <a:r>
              <a:t>•  Quantile regression — give an ETA RANGE, not a point.</a:t>
            </a:r>
          </a:p>
          <a:p>
            <a:pPr>
              <a:spcAft>
                <a:spcPts val="800"/>
              </a:spcAft>
              <a:defRPr sz="1200">
                <a:solidFill>
                  <a:srgbClr val="FFFFFF"/>
                </a:solidFill>
              </a:defRPr>
            </a:pPr>
            <a:r>
              <a:t>•  Stack the existing blend: LGBM (3.05) + CatBoost (3.09) → blend 3.04.</a:t>
            </a:r>
          </a:p>
          <a:p>
            <a:pPr>
              <a:spcAft>
                <a:spcPts val="800"/>
              </a:spcAft>
              <a:defRPr sz="1200">
                <a:solidFill>
                  <a:srgbClr val="FFFFFF"/>
                </a:solidFill>
              </a:defRPr>
            </a:pPr>
            <a:r>
              <a:t>•  Per-segment models (urban vs metropolitan) where distance flips.</a:t>
            </a:r>
          </a:p>
          <a:p>
            <a:pPr>
              <a:spcAft>
                <a:spcPts val="800"/>
              </a:spcAft>
              <a:defRPr sz="1200">
                <a:solidFill>
                  <a:srgbClr val="FFFFFF"/>
                </a:solidFill>
              </a:defRPr>
            </a:pPr>
            <a:r>
              <a:t>•  Online learning: nightly re-fit on the last 7 days.</a:t>
            </a:r>
          </a:p>
          <a:p>
            <a:pPr>
              <a:spcAft>
                <a:spcPts val="800"/>
              </a:spcAft>
              <a:defRPr sz="1200">
                <a:solidFill>
                  <a:srgbClr val="FFFFFF"/>
                </a:solidFill>
              </a:defRPr>
            </a:pPr>
            <a:r>
              <a:t>•  Calibration so the 90% interval actually covers 90%.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537960"/>
            <a:ext cx="11430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4A3B8"/>
                </a:solidFill>
              </a:defRPr>
            </a:pPr>
            <a:r>
              <a:t>github.com/TheClazer/Zomato-delivery-estimation  ·  EDA deck for 14:00 submission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