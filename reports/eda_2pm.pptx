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Zomato Delivery Time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DD4BF"/>
                </a:solidFill>
              </a:defRPr>
            </a:pPr>
            <a:r>
              <a:t>A 10-hour ML sprint  ·  DataVerse 2026  ·  BMSCE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6213560" cy="93358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rPr dirty="0"/>
              <a:t>Team </a:t>
            </a:r>
            <a:r>
              <a:rPr dirty="0" err="1"/>
              <a:t>Hmmmmmmmmmm</a:t>
            </a:r>
            <a:r>
              <a:rPr dirty="0"/>
              <a:t>   ·   Suchit SM    Rayyan Shaikh    </a:t>
            </a:r>
            <a:r>
              <a:rPr dirty="0" err="1"/>
              <a:t>Ranadeep</a:t>
            </a:r>
            <a:r>
              <a:rPr dirty="0"/>
              <a:t> M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rPr dirty="0"/>
              <a:t>github.com/</a:t>
            </a:r>
            <a:r>
              <a:rPr dirty="0" err="1"/>
              <a:t>TheClazer</a:t>
            </a:r>
            <a:r>
              <a:rPr dirty="0"/>
              <a:t>/Zomato-delivery-estimation</a:t>
            </a:r>
          </a:p>
          <a:p>
            <a:pPr>
              <a:spcAft>
                <a:spcPts val="400"/>
              </a:spcAft>
              <a:defRPr sz="1600">
                <a:solidFill>
                  <a:srgbClr val="FFFFFF"/>
                </a:solidFill>
              </a:defRPr>
            </a:pPr>
            <a:r>
              <a:rPr dirty="0"/>
              <a:t>EDA submission — 14:</a:t>
            </a:r>
            <a:r>
              <a:rPr lang="en-US" dirty="0"/>
              <a:t>3</a:t>
            </a:r>
            <a:r>
              <a:rPr dirty="0"/>
              <a:t>0 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What we're predicting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Tabular regression on real delivery records — every minute saved is a happier customer.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Time_taken (min)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TARGET COLUMN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2DD4BF"/>
                </a:solidFill>
              </a:defRPr>
            </a:pPr>
            <a: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METRIC  ·  lower is better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417320"/>
            <a:ext cx="3657600" cy="14630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92440" y="1527048"/>
            <a:ext cx="36576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ACC15"/>
                </a:solidFill>
              </a:defRPr>
            </a:pPr>
            <a:r>
              <a:t>3.05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382926"/>
            <a:ext cx="3657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Our 5-fold tuned MAE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Goal: predict the per-order delivery time given the order, rider, restaurant, traffic and weather.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Stakes: accurate ETAs build customer trust, balance courier load, and reduce refund volume.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Naïve mean baseline → MAE ≈ 7.6 min. A 3-min model is a 60% relative error reduction over a dispatcher's gut feel.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</a:defRPr>
            </a:pPr>
            <a:r>
              <a:t>•  5-fold KFold (seed 42)  ·  honest OOF  ·  R² = 0.833.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532120"/>
            <a:ext cx="11247120" cy="91440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6052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WHY THIS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MAE penalises every minute equally and is the operational truth — a 10-min late order is twice as bad as a 5-min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data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Loaded from raw CSV. Cleaned inline. No leakage between features and target.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45,153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ROWS (after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756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COLUMNS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26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MEDIAN 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371600"/>
            <a:ext cx="2697480" cy="10058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1481328"/>
            <a:ext cx="2697480" cy="553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10–54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035454"/>
            <a:ext cx="2697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RANGE (min)</a:t>
            </a:r>
          </a:p>
        </p:txBody>
      </p:sp>
      <p:pic>
        <p:nvPicPr>
          <p:cNvPr id="18" name="Picture 17" descr="fig01_targe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6766560" cy="40725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fig01 — Histogram of delivery time. Mean (black) and median (red) overlaid.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2560320"/>
            <a:ext cx="4297680" cy="347472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35240" y="26517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TOP MISSINGNESS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718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  •  Delivery_person_Ratings: 3.7%</a:t>
            </a:r>
            <a:br/>
            <a:r>
              <a:t>  •  Delivery_person_Age: 3.6%</a:t>
            </a:r>
            <a:br/>
            <a:r>
              <a:t>  •  Time_Orderd: 3.2%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572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All other columns &lt; 0.5% missing. Target rows missing are dropped. Numeric NaN is preserved — LightGBM splits on missing natively.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How we cleaned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Eight cleaning steps — every line is in src/data.py with comments.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87171"/>
                </a:solidFill>
              </a:defRPr>
            </a:pPr>
            <a:r>
              <a:t>BEFORE  —  raw CSV 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"NaN" / "nan" string sentinels in numeric columns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"(min) 24" instead of integer 24 in target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"conditions Stormy" prefix in Weather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Rider ratings up to 6.0 (above the 5-star ceiling)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Zero-island coordinates (lat=0, lon=0 in Atlantic)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Distance up to 19,692 km on a food order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Date strings in DD-MM-YYYY format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4ADE80"/>
                </a:solidFill>
              </a:defRPr>
            </a:pPr>
            <a:r>
              <a:t>AFTER  —  load_clean()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Real np.nan; no string sentinels survive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pd.to_numeric(errors='coerce') → clean float target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str.replace('conditions ', '') on Weather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Ratings &gt; 5 capped to NaN, not dropped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Coord filter: all 4 |lat/lon| &gt; 1 keeps real locations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30-km haversine cap (food-delivery physics) → NaN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dayfirst=True parses Indian dates correctly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Distance is a clean primary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Strong univariate trend — but SHAP later reveals it isn't actually the dominant feature.</a:t>
            </a:r>
          </a:p>
        </p:txBody>
      </p:sp>
      <p:pic>
        <p:nvPicPr>
          <p:cNvPr id="6" name="Picture 5" descr="fig05_dist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49707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fig05 — Scatter (8,000-row sample) + linear regression; Spearman ρ overlaid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371600"/>
            <a:ext cx="416052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0" y="1481328"/>
            <a:ext cx="416052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ρ = 0.33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56155"/>
            <a:ext cx="4160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SPEARMAN CORRELATION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697480"/>
            <a:ext cx="4160520" cy="11887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9520" y="2807208"/>
            <a:ext cx="416052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≈ 1.0 min /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482035"/>
            <a:ext cx="4160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regression slope (approx)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023360"/>
            <a:ext cx="4160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Clean monotonic trend across 0.5–50 km.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Heteroscedasticity grows past 15 km — more variance, fewer orders.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Distance alone gets MAE ≈ 4.5 min; traffic + prep + rider needed for 3.0.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Traffic and weather compound the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Two non-linear amplifiers that pure distance models miss.</a:t>
            </a:r>
          </a:p>
        </p:txBody>
      </p:sp>
      <p:pic>
        <p:nvPicPr>
          <p:cNvPr id="6" name="Picture 5" descr="fig06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760720" cy="3545443"/>
          </a:xfrm>
          <a:prstGeom prst="rect">
            <a:avLst/>
          </a:prstGeom>
        </p:spPr>
      </p:pic>
      <p:pic>
        <p:nvPicPr>
          <p:cNvPr id="7" name="Picture 6" descr="fig07_w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760720" cy="340014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800600"/>
            <a:ext cx="5760720" cy="14173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873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ACC15"/>
                </a:solidFill>
              </a:defRPr>
            </a:pPr>
            <a:r>
              <a:t>TRAFFIC  ·  H2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84648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ANOVA F=3390.2 (p=0.00e+00). Median time grows monotonically Low → Medium → High → Jam. 'Jam' alone predicts roughly +15 min over baseline.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800600"/>
            <a:ext cx="5760720" cy="141732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4873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2DD4BF"/>
                </a:solidFill>
              </a:defRPr>
            </a:pPr>
            <a:r>
              <a:t>WEATHER  ·  H3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184648"/>
            <a:ext cx="5486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Bad weather (Stormy / Fog / Sandstorms) is +6.0 min median over Sunny. Mann-Whitney one-sided p=0.00e+00.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Three smaller but real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Features that move MAE 0.2–0.4 min each — small alone, multiplicative together.</a:t>
            </a:r>
          </a:p>
        </p:txBody>
      </p:sp>
      <p:pic>
        <p:nvPicPr>
          <p:cNvPr id="6" name="Picture 5" descr="fig08_multi_deliv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943600" cy="365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fig08 — Time by number of multi-deliveries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13716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4813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2DD4BF"/>
                </a:solidFill>
              </a:defRPr>
            </a:pPr>
            <a:r>
              <a:t>ρ = 0.34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1863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Multi-deliveries ↔ time (Spearman)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27432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8529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ACC15"/>
                </a:solidFill>
              </a:defRPr>
            </a:pPr>
            <a:r>
              <a:t>+19.5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5579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Festival uplift (Welch 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60" y="4114800"/>
            <a:ext cx="5212080" cy="123444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4224528"/>
            <a:ext cx="5212080" cy="678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94A3B8"/>
                </a:solidFill>
              </a:defRPr>
            </a:pPr>
            <a:r>
              <a:t>weak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929530"/>
            <a:ext cx="5212080" cy="37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</a:defRPr>
            </a:pPr>
            <a:r>
              <a:t>Rider age effect after distance/rating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94A3B8"/>
                </a:solidFill>
              </a:defRPr>
            </a:pPr>
            <a:r>
              <a:t>Welch t-test p ≈ p=0.00e+00  ·  each extra concurrent drop adds measurable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signal the raw scatter hides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Univariate plots say distance is king. SHAP on the tuned model says otherwise.</a:t>
            </a:r>
          </a:p>
        </p:txBody>
      </p:sp>
      <p:pic>
        <p:nvPicPr>
          <p:cNvPr id="6" name="Picture 5" descr="fig11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3921105" cy="44725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989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94A3B8"/>
                </a:solidFill>
              </a:defRPr>
            </a:pPr>
            <a:r>
              <a:t>fig11 — SHAP bar plot, top features by mean |SHAP|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325880"/>
            <a:ext cx="5212080" cy="484632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20840" y="14630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THE BURIED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288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</a:defRPr>
            </a:pPr>
            <a:r>
              <a:t>Road_traffic_density is the #1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Distance ranks 4th in SHAP — below rider age and rating.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Univariate ρ = 0.32 is real but moderate; the model uses distance INSIDE traffic strata.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In Jam conditions, a 5 km order takes longer than a 15 km order in Low traffic.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Implication: an ETA model without live traffic over-promises in jams, under-promises in low.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 built  +  what we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13 numeric + 6 categorical features. Five hypotheses, all significant at p &lt; 0.05.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57784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FEATURE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distance_km — haversine, capped at 30 km (physical)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prep_time_min — picked − ordered, midnight-safe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order_hour, is_peak_lunch (11-14), is_peak_dinner (19-22)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is_late_night (≥22 or ≤5), is_weekend, day_of_week, month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Delivery_person_Age, Delivery_person_Ratings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Vehicle_condition, multiple_deliveries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Categorical (no one-hot — LGBM native):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  Weather_conditions, Road_traffic_density,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</a:defRPr>
            </a:pPr>
            <a:r>
              <a:t>•    Type_of_vehicle, Type_of_order, City, Festival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DD4BF"/>
                </a:solidFill>
              </a:defRPr>
            </a:pPr>
            <a:r>
              <a:t>STATISTICAL TESTS</a:t>
            </a:r>
          </a:p>
        </p:txBody>
      </p:sp>
      <p:pic>
        <p:nvPicPr>
          <p:cNvPr id="10" name="Picture 9" descr="fig09_hypothes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737360"/>
            <a:ext cx="6035040" cy="200271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5486400"/>
            <a:ext cx="5943600" cy="868680"/>
          </a:xfrm>
          <a:prstGeom prst="rect">
            <a:avLst/>
          </a:prstGeom>
          <a:solidFill>
            <a:srgbClr val="12304A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5559552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4ADE80"/>
                </a:solidFill>
              </a:defRPr>
            </a:pPr>
            <a:r>
              <a:t>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70448"/>
            <a:ext cx="566928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FFFFFF"/>
                </a:solidFill>
              </a:defRPr>
            </a:pPr>
            <a:r>
              <a:t>5 of 5 hypotheses significant at p &lt; 0.05. The signal is real; the question is how much each adds in combination.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we'd do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DD4BF"/>
                </a:solidFill>
              </a:defRPr>
            </a:pPr>
            <a:r>
              <a:t>Concrete extensions, not vague aspirations.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D4BF"/>
                </a:solidFill>
              </a:defRPr>
            </a:pPr>
            <a:r>
              <a:t>DATA  &amp; 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Real-time traffic API — SHAP shows traffic is #1; live data uncaps it.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Restaurant prep-time rolling mean (per restaurant_id × hour).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Rider-history: avg delivery time over their last N orders.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Weather severity numeric (intensity, not just category).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City demand index — orders per hour as a zone feature.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486400" cy="4937760"/>
          </a:xfrm>
          <a:prstGeom prst="rect">
            <a:avLst/>
          </a:prstGeom>
          <a:solidFill>
            <a:srgbClr val="12304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ACC15"/>
                </a:solidFill>
              </a:defRPr>
            </a:pPr>
            <a:r>
              <a:t>MODEL  &amp; 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Quantile regression — give an ETA RANGE, not a point.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Stack the existing blend: LGBM (3.05) + CatBoost (3.09) → blend 3.04.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Per-segment models (urban vs metropolitan) where distance flips.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Online learning: nightly re-fit on the last 7 days.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 Calibration so the 90% interval actually covers 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github.com/TheClazer/Zomato-delivery-estimation  ·  EDA deck for 14:00 submission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1179</Words>
  <Application>Microsoft Office PowerPoint</Application>
  <PresentationFormat>Widescreen</PresentationFormat>
  <Paragraphs>116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Rayyan Shaikh</dc:creator>
  <cp:keywords/>
  <dc:description>generated using python-pptx</dc:description>
  <cp:lastModifiedBy>Rayyan Shaikh</cp:lastModifiedBy>
  <cp:revision>2</cp:revision>
  <dcterms:created xsi:type="dcterms:W3CDTF">2013-01-27T09:14:16Z</dcterms:created>
  <dcterms:modified xsi:type="dcterms:W3CDTF">2026-05-13T09:20:43Z</dcterms:modified>
  <cp:category/>
</cp:coreProperties>
</file>